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Count</c:v>
                </c:pt>
              </c:strCache>
            </c:strRef>
          </c:tx>
          <c:spPr>
            <a:solidFill>
              <a:srgbClr val="1C7293"/>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DC2626"/>
              </a:solidFill>
              <a:effectLst/>
            </c:spPr>
          </c:dPt>
          <c:cat>
            <c:multiLvlStrRef>
              <c:f>Sheet1!$A$2:$A$3</c:f>
              <c:multiLvlStrCache>
                <c:ptCount val="2"/>
                <c:lvl>
                  <c:pt idx="0">
                    <c:v>Normal (Class 0)</c:v>
                  </c:pt>
                  <c:pt idx="1">
                    <c:v>Fraud (Class 1)</c:v>
                  </c:pt>
                </c:lvl>
              </c:multiLvlStrCache>
            </c:multiLvlStrRef>
          </c:cat>
          <c:val>
            <c:numRef>
              <c:f>Sheet1!$B$2:$B$3</c:f>
              <c:numCache>
                <c:formatCode>General</c:formatCode>
                <c:ptCount val="2"/>
                <c:pt idx="0">
                  <c:v>284315</c:v>
                </c:pt>
                <c:pt idx="1">
                  <c:v>492</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CV F1</c:v>
                </c:pt>
              </c:strCache>
            </c:strRef>
          </c:tx>
          <c:spPr>
            <a:solidFill>
              <a:srgbClr val="9CA3AF"/>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9CA3AF"/>
              </a:solidFill>
              <a:effectLst/>
            </c:spPr>
          </c:dPt>
          <c:dPt>
            <c:idx val="1"/>
            <c:invertIfNegative val="0"/>
            <c:bubble3D val="0"/>
            <c:spPr>
              <a:solidFill>
                <a:srgbClr val="1C7293"/>
              </a:solidFill>
              <a:effectLst/>
            </c:spPr>
          </c:dPt>
          <c:dPt>
            <c:idx val="2"/>
            <c:invertIfNegative val="0"/>
            <c:bubble3D val="0"/>
            <c:spPr>
              <a:solidFill>
                <a:srgbClr val="065A82"/>
              </a:solidFill>
              <a:effectLst/>
            </c:spPr>
          </c:dPt>
          <c:dPt>
            <c:idx val="3"/>
            <c:invertIfNegative val="0"/>
            <c:bubble3D val="0"/>
            <c:spPr>
              <a:solidFill>
                <a:srgbClr val="7C3AED"/>
              </a:solidFill>
              <a:effectLst/>
            </c:spPr>
          </c:dPt>
          <c:dPt>
            <c:idx val="4"/>
            <c:invertIfNegative val="0"/>
            <c:bubble3D val="0"/>
            <c:spPr>
              <a:solidFill>
                <a:srgbClr val="0F766E"/>
              </a:solidFill>
              <a:effectLst/>
            </c:spPr>
          </c:dPt>
          <c:dPt>
            <c:idx val="5"/>
            <c:invertIfNegative val="0"/>
            <c:bubble3D val="0"/>
            <c:spPr>
              <a:solidFill>
                <a:srgbClr val="0096C7"/>
              </a:solidFill>
              <a:effectLst/>
            </c:spPr>
          </c:dPt>
          <c:cat>
            <c:multiLvlStrRef>
              <c:f>Sheet1!$A$2:$A$7</c:f>
              <c:multiLvlStrCache>
                <c:ptCount val="6"/>
                <c:lvl>
                  <c:pt idx="0">
                    <c:v>Dummy</c:v>
                  </c:pt>
                  <c:pt idx="1">
                    <c:v>Logistic Reg.</c:v>
                  </c:pt>
                  <c:pt idx="2">
                    <c:v>Random Forest</c:v>
                  </c:pt>
                  <c:pt idx="3">
                    <c:v>XGBoost</c:v>
                  </c:pt>
                  <c:pt idx="4">
                    <c:v>Neural Net</c:v>
                  </c:pt>
                  <c:pt idx="5">
                    <c:v>RF Tuned</c:v>
                  </c:pt>
                </c:lvl>
              </c:multiLvlStrCache>
            </c:multiLvlStrRef>
          </c:cat>
          <c:val>
            <c:numRef>
              <c:f>Sheet1!$B$2:$B$7</c:f>
              <c:numCache>
                <c:formatCode>General</c:formatCode>
                <c:ptCount val="6"/>
                <c:pt idx="0">
                  <c:v>0</c:v>
                </c:pt>
                <c:pt idx="1">
                  <c:v>0.72</c:v>
                </c:pt>
                <c:pt idx="2">
                  <c:v>0.84</c:v>
                </c:pt>
                <c:pt idx="3">
                  <c:v>0.86</c:v>
                </c:pt>
                <c:pt idx="4">
                  <c:v>0.81</c:v>
                </c:pt>
                <c:pt idx="5">
                  <c:v>0.87</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065A82"/>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Dummy</c:v>
                  </c:pt>
                  <c:pt idx="1">
                    <c:v>Logistic Reg.</c:v>
                  </c:pt>
                  <c:pt idx="2">
                    <c:v>Random Forest</c:v>
                  </c:pt>
                  <c:pt idx="3">
                    <c:v>XGBoost</c:v>
                  </c:pt>
                  <c:pt idx="4">
                    <c:v>Neural Net</c:v>
                  </c:pt>
                  <c:pt idx="5">
                    <c:v>RF Tuned</c:v>
                  </c:pt>
                </c:lvl>
              </c:multiLvlStrCache>
            </c:multiLvlStrRef>
          </c:cat>
          <c:val>
            <c:numRef>
              <c:f>Sheet1!$B$2:$B$7</c:f>
              <c:numCache>
                <c:formatCode>General</c:formatCode>
                <c:ptCount val="6"/>
                <c:pt idx="0">
                  <c:v>0</c:v>
                </c:pt>
                <c:pt idx="1">
                  <c:v>0.87</c:v>
                </c:pt>
                <c:pt idx="2">
                  <c:v>0.92</c:v>
                </c:pt>
                <c:pt idx="3">
                  <c:v>0.93</c:v>
                </c:pt>
                <c:pt idx="4">
                  <c:v>0.88</c:v>
                </c:pt>
                <c:pt idx="5">
                  <c:v>0.93</c:v>
                </c:pt>
              </c:numCache>
            </c:numRef>
          </c:val>
        </c:ser>
        <c:ser>
          <c:idx val="1"/>
          <c:order val="1"/>
          <c:tx>
            <c:strRef>
              <c:f>Sheet1!$C$1</c:f>
              <c:strCache>
                <c:ptCount val="1"/>
                <c:pt idx="0">
                  <c:v>Recall</c:v>
                </c:pt>
              </c:strCache>
            </c:strRef>
          </c:tx>
          <c:spPr>
            <a:solidFill>
              <a:srgbClr val="1C7293"/>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Dummy</c:v>
                  </c:pt>
                  <c:pt idx="1">
                    <c:v>Logistic Reg.</c:v>
                  </c:pt>
                  <c:pt idx="2">
                    <c:v>Random Forest</c:v>
                  </c:pt>
                  <c:pt idx="3">
                    <c:v>XGBoost</c:v>
                  </c:pt>
                  <c:pt idx="4">
                    <c:v>Neural Net</c:v>
                  </c:pt>
                  <c:pt idx="5">
                    <c:v>RF Tuned</c:v>
                  </c:pt>
                </c:lvl>
              </c:multiLvlStrCache>
            </c:multiLvlStrRef>
          </c:cat>
          <c:val>
            <c:numRef>
              <c:f>Sheet1!$C$2:$C$7</c:f>
              <c:numCache>
                <c:formatCode>General</c:formatCode>
                <c:ptCount val="6"/>
                <c:pt idx="0">
                  <c:v>0</c:v>
                </c:pt>
                <c:pt idx="1">
                  <c:v>0.62</c:v>
                </c:pt>
                <c:pt idx="2">
                  <c:v>0.8</c:v>
                </c:pt>
                <c:pt idx="3">
                  <c:v>0.82</c:v>
                </c:pt>
                <c:pt idx="4">
                  <c:v>0.75</c:v>
                </c:pt>
                <c:pt idx="5">
                  <c:v>0.83</c:v>
                </c:pt>
              </c:numCache>
            </c:numRef>
          </c:val>
        </c:ser>
        <c:ser>
          <c:idx val="2"/>
          <c:order val="2"/>
          <c:tx>
            <c:strRef>
              <c:f>Sheet1!$D$1</c:f>
              <c:strCache>
                <c:ptCount val="1"/>
                <c:pt idx="0">
                  <c:v>F1-Score</c:v>
                </c:pt>
              </c:strCache>
            </c:strRef>
          </c:tx>
          <c:spPr>
            <a:solidFill>
              <a:srgbClr val="059669"/>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Dummy</c:v>
                  </c:pt>
                  <c:pt idx="1">
                    <c:v>Logistic Reg.</c:v>
                  </c:pt>
                  <c:pt idx="2">
                    <c:v>Random Forest</c:v>
                  </c:pt>
                  <c:pt idx="3">
                    <c:v>XGBoost</c:v>
                  </c:pt>
                  <c:pt idx="4">
                    <c:v>Neural Net</c:v>
                  </c:pt>
                  <c:pt idx="5">
                    <c:v>RF Tuned</c:v>
                  </c:pt>
                </c:lvl>
              </c:multiLvlStrCache>
            </c:multiLvlStrRef>
          </c:cat>
          <c:val>
            <c:numRef>
              <c:f>Sheet1!$D$2:$D$7</c:f>
              <c:numCache>
                <c:formatCode>General</c:formatCode>
                <c:ptCount val="6"/>
                <c:pt idx="0">
                  <c:v>0</c:v>
                </c:pt>
                <c:pt idx="1">
                  <c:v>0.72</c:v>
                </c:pt>
                <c:pt idx="2">
                  <c:v>0.86</c:v>
                </c:pt>
                <c:pt idx="3">
                  <c:v>0.87</c:v>
                </c:pt>
                <c:pt idx="4">
                  <c:v>0.81</c:v>
                </c:pt>
                <c:pt idx="5">
                  <c:v>0.88</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4748B"/>
                </a:solidFill>
                <a:latin typeface="Arial"/>
              </a:defRPr>
            </a:pPr>
            <a:r>
              <a:rPr sz="1100" b="0" i="0" u="none" strike="noStrike">
                <a:solidFill>
                  <a:srgbClr val="64748B"/>
                </a:solidFill>
                <a:latin typeface="Arial"/>
              </a:rPr>
              <a:t>Top 6 Features (Mean Gini Decrease)</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065A82"/>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V17</c:v>
                  </c:pt>
                  <c:pt idx="1">
                    <c:v>V14</c:v>
                  </c:pt>
                  <c:pt idx="2">
                    <c:v>V12</c:v>
                  </c:pt>
                  <c:pt idx="3">
                    <c:v>V10</c:v>
                  </c:pt>
                  <c:pt idx="4">
                    <c:v>V11</c:v>
                  </c:pt>
                  <c:pt idx="5">
                    <c:v>Amount</c:v>
                  </c:pt>
                </c:lvl>
              </c:multiLvlStrCache>
            </c:multiLvlStrRef>
          </c:cat>
          <c:val>
            <c:numRef>
              <c:f>Sheet1!$B$2:$B$7</c:f>
              <c:numCache>
                <c:formatCode>General</c:formatCode>
                <c:ptCount val="6"/>
                <c:pt idx="0">
                  <c:v>0.145</c:v>
                </c:pt>
                <c:pt idx="1">
                  <c:v>0.12</c:v>
                </c:pt>
                <c:pt idx="2">
                  <c:v>0.085</c:v>
                </c:pt>
                <c:pt idx="3">
                  <c:v>0.072</c:v>
                </c:pt>
                <c:pt idx="4">
                  <c:v>0.058</c:v>
                </c:pt>
                <c:pt idx="5">
                  <c:v>0.02</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problem briefly: $32B lost to credit card fraud annually. Today we present a 5-model ML comparison. Mention the dataset: 284k transactions, only 0.17%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We have 8 sections. Total presentation time is 15-20 minutes. Save Q&amp;A for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accuracy is NOT the right metric here. A model predicting 'normal' every time gets 99.8% accuracy. We care about F1 and AUC. The 578:1 imbalance is the central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severe imbalance: 284k normal vs 492 fraud. The log scale is needed to even see the fraud bar. This is the fundamental challenge of the dataset. V1-V28 cannot be reverse-engineered to original features — they are confidential.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our approach matches or exceeds most related work. Key differentiator: we avoid resampling (which risks data leakage) and instead use class-weight balancing. We also compare 5 model families, not just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data leakage prevention. Many published papers apply SMOTE before splitting, which inflates their reported performance. We avoid this by using class-weight balancing. The scaler is fit only on train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model. Stress that Dummy is the baseline — any real model must beat it. All real models handle imbalance via class-weight or scale_pos_weight. The MLP uses early stopping with a 10% validation fraction from the training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cross-validation is done only on the training set. The test set is held out completely until the final evaluation. This prevents optimistic bias in our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RF Tuned and XGBoost as top performers. Note that Logistic Regression has good precision but lower recall — it misses more fraud. The neural network is competitive but doesn't beat ensembles on tabular data. All non-dummy models are evaluated on the same 85k-row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held-out test set. These numbers are the honest evaluation — models never saw these rows during training. Tuned RF wins on F1 (0.88) and ties XGBoost on precision and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produced 8+ figures total as required by the rubric. The t-SNE shows whether fraud and normal transactions form visually separable clusters. Confusion matrices are generated per model. Feature importance confirms V17 and V14 are the most discriminative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the most important breakdown. True Positives (caught fraud) vs False Negatives (missed fraud). In a real bank, each false negative is a real loss. The 83% recall means we catch 83 out of every 100 fraud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V-features are confidential PCA components. We can't name them directly but we know they encode things like merchant category, transaction patterns, and card usage behavior. V17 and V14 consistently rank highest across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test suite. 13 tests for preprocessing, 12 for models. The tests use a synthetic mini-dataset so they run fast without needing the real creditcard.csv. This is CI-friendly.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talking points: (1) Non-linear interactions are why RF beats LR. (2) Deep learning needs more data and features to shine — 30 tabular features is not where it excels. (3) Business context matters for threshold selection. (4) Concept drift is real — fraud patterns in 2013 differ from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challenges are real problems you'll encounter in any imbalanced classification task. Be prepared to discuss the data leakage issue in detail — it's a common interview question and a frequent mistake in published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live if possible. Have the terminal ready with the environment set up. If live demo is not possible, show the recorded video. Make sure creditcard.csv is in data/raw/ before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5 models, best is tuned RF at F1 0.88 and AUC 0.98. Key takeaway: class-weight balancing + ensemble methods is the right approach for imbalanced fraud detection. Future work: SHAP values and temporal evaluation would be the most impactful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914400"/>
            <a:ext cx="8046720" cy="1005840"/>
          </a:xfrm>
          <a:prstGeom prst="rect">
            <a:avLst/>
          </a:prstGeom>
          <a:noFill/>
          <a:ln/>
        </p:spPr>
        <p:txBody>
          <a:bodyPr wrap="square"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Credit Card Fraud Detection</a:t>
            </a:r>
            <a:endParaRPr lang="en-US" sz="4200" dirty="0"/>
          </a:p>
        </p:txBody>
      </p:sp>
      <p:sp>
        <p:nvSpPr>
          <p:cNvPr id="3" name="Text 1"/>
          <p:cNvSpPr/>
          <p:nvPr/>
        </p:nvSpPr>
        <p:spPr>
          <a:xfrm>
            <a:off x="548640" y="1828800"/>
            <a:ext cx="8046720" cy="731520"/>
          </a:xfrm>
          <a:prstGeom prst="rect">
            <a:avLst/>
          </a:prstGeom>
          <a:noFill/>
          <a:ln/>
        </p:spPr>
        <p:txBody>
          <a:bodyPr wrap="square" rtlCol="0" anchor="ctr"/>
          <a:lstStyle/>
          <a:p>
            <a:pPr algn="l" indent="0" marL="0">
              <a:buNone/>
            </a:pPr>
            <a:r>
              <a:rPr lang="en-US" sz="3400" dirty="0">
                <a:solidFill>
                  <a:srgbClr val="0096C7"/>
                </a:solidFill>
                <a:latin typeface="Calibri" pitchFamily="34" charset="0"/>
                <a:ea typeface="Calibri" pitchFamily="34" charset="-122"/>
                <a:cs typeface="Calibri" pitchFamily="34" charset="-120"/>
              </a:rPr>
              <a:t>Using Machine Learning</a:t>
            </a:r>
            <a:endParaRPr lang="en-US" sz="3400" dirty="0"/>
          </a:p>
        </p:txBody>
      </p:sp>
      <p:sp>
        <p:nvSpPr>
          <p:cNvPr id="4" name="Shape 2"/>
          <p:cNvSpPr/>
          <p:nvPr/>
        </p:nvSpPr>
        <p:spPr>
          <a:xfrm>
            <a:off x="548640" y="2633472"/>
            <a:ext cx="4114800" cy="36576"/>
          </a:xfrm>
          <a:prstGeom prst="rect">
            <a:avLst/>
          </a:prstGeom>
          <a:solidFill>
            <a:srgbClr val="1C7293"/>
          </a:solidFill>
          <a:ln/>
        </p:spPr>
      </p:sp>
      <p:sp>
        <p:nvSpPr>
          <p:cNvPr id="5" name="Text 3"/>
          <p:cNvSpPr/>
          <p:nvPr/>
        </p:nvSpPr>
        <p:spPr>
          <a:xfrm>
            <a:off x="548640" y="2834640"/>
            <a:ext cx="8046720" cy="365760"/>
          </a:xfrm>
          <a:prstGeom prst="rect">
            <a:avLst/>
          </a:prstGeom>
          <a:noFill/>
          <a:ln/>
        </p:spPr>
        <p:txBody>
          <a:bodyPr wrap="square" rtlCol="0" anchor="ctr"/>
          <a:lstStyle/>
          <a:p>
            <a:pPr algn="l" indent="0" marL="0">
              <a:buNone/>
            </a:pPr>
            <a:r>
              <a:rPr lang="en-US" sz="1400" dirty="0">
                <a:solidFill>
                  <a:srgbClr val="A0C4DB"/>
                </a:solidFill>
                <a:latin typeface="Calibri" pitchFamily="34" charset="0"/>
                <a:ea typeface="Calibri" pitchFamily="34" charset="-122"/>
                <a:cs typeface="Calibri" pitchFamily="34" charset="-120"/>
              </a:rPr>
              <a:t>Cybersecurity &amp; Machine Learning — Course Project</a:t>
            </a:r>
            <a:endParaRPr lang="en-US" sz="1400" dirty="0"/>
          </a:p>
        </p:txBody>
      </p:sp>
      <p:sp>
        <p:nvSpPr>
          <p:cNvPr id="6" name="Text 4"/>
          <p:cNvSpPr/>
          <p:nvPr/>
        </p:nvSpPr>
        <p:spPr>
          <a:xfrm>
            <a:off x="548640" y="3246120"/>
            <a:ext cx="8046720" cy="320040"/>
          </a:xfrm>
          <a:prstGeom prst="rect">
            <a:avLst/>
          </a:prstGeom>
          <a:noFill/>
          <a:ln/>
        </p:spPr>
        <p:txBody>
          <a:bodyPr wrap="square" rtlCol="0" anchor="ctr"/>
          <a:lstStyle/>
          <a:p>
            <a:pPr algn="l" indent="0" marL="0">
              <a:buNone/>
            </a:pPr>
            <a:r>
              <a:rPr lang="en-US" sz="1300" dirty="0">
                <a:solidFill>
                  <a:srgbClr val="7BAFC7"/>
                </a:solidFill>
                <a:latin typeface="Calibri" pitchFamily="34" charset="0"/>
                <a:ea typeface="Calibri" pitchFamily="34" charset="-122"/>
                <a:cs typeface="Calibri" pitchFamily="34" charset="-120"/>
              </a:rPr>
              <a:t>June 2026</a:t>
            </a:r>
            <a:endParaRPr lang="en-US" sz="1300" dirty="0"/>
          </a:p>
        </p:txBody>
      </p:sp>
      <p:sp>
        <p:nvSpPr>
          <p:cNvPr id="7" name="Text 5"/>
          <p:cNvSpPr/>
          <p:nvPr/>
        </p:nvSpPr>
        <p:spPr>
          <a:xfrm>
            <a:off x="548640" y="4480560"/>
            <a:ext cx="8046720" cy="365760"/>
          </a:xfrm>
          <a:prstGeom prst="rect">
            <a:avLst/>
          </a:prstGeom>
          <a:noFill/>
          <a:ln/>
        </p:spPr>
        <p:txBody>
          <a:bodyPr wrap="square" rtlCol="0" anchor="ctr"/>
          <a:lstStyle/>
          <a:p>
            <a:pPr algn="l" indent="0" marL="0">
              <a:buNone/>
            </a:pPr>
            <a:r>
              <a:rPr lang="en-US" sz="1100" i="1" dirty="0">
                <a:solidFill>
                  <a:srgbClr val="5A8FA8"/>
                </a:solidFill>
              </a:rPr>
              <a:t>284,807 Transactions  |  5 ML Models  |  F1 ~0.88  |  AUC ~0.98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OVERVIEW</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Agenda</a:t>
            </a:r>
            <a:endParaRPr lang="en-US" sz="2800" dirty="0"/>
          </a:p>
        </p:txBody>
      </p:sp>
      <p:sp>
        <p:nvSpPr>
          <p:cNvPr id="5" name="Shape 3"/>
          <p:cNvSpPr/>
          <p:nvPr/>
        </p:nvSpPr>
        <p:spPr>
          <a:xfrm>
            <a:off x="411480" y="105156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576072" y="1207008"/>
            <a:ext cx="457200" cy="457200"/>
          </a:xfrm>
          <a:prstGeom prst="ellipse">
            <a:avLst/>
          </a:prstGeom>
          <a:solidFill>
            <a:srgbClr val="065A82"/>
          </a:solidFill>
          <a:ln/>
        </p:spPr>
      </p:sp>
      <p:sp>
        <p:nvSpPr>
          <p:cNvPr id="7" name="Text 5"/>
          <p:cNvSpPr/>
          <p:nvPr/>
        </p:nvSpPr>
        <p:spPr>
          <a:xfrm>
            <a:off x="576072" y="12070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8" name="Text 6"/>
          <p:cNvSpPr/>
          <p:nvPr/>
        </p:nvSpPr>
        <p:spPr>
          <a:xfrm>
            <a:off x="1124712" y="114300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Problem &amp; Motivation</a:t>
            </a:r>
            <a:endParaRPr lang="en-US" sz="1300" dirty="0"/>
          </a:p>
        </p:txBody>
      </p:sp>
      <p:sp>
        <p:nvSpPr>
          <p:cNvPr id="9" name="Text 7"/>
          <p:cNvSpPr/>
          <p:nvPr/>
        </p:nvSpPr>
        <p:spPr>
          <a:xfrm>
            <a:off x="1124712" y="1463040"/>
            <a:ext cx="3200400" cy="256032"/>
          </a:xfrm>
          <a:prstGeom prst="rect">
            <a:avLst/>
          </a:prstGeom>
          <a:noFill/>
          <a:ln/>
        </p:spPr>
        <p:txBody>
          <a:bodyPr wrap="square" lIns="0" tIns="0" rIns="0" bIns="0" rtlCol="0" anchor="t"/>
          <a:lstStyle/>
          <a:p>
            <a:pPr indent="0" marL="0">
              <a:buNone/>
            </a:pPr>
            <a:r>
              <a:rPr lang="en-US" sz="1000" dirty="0">
                <a:solidFill>
                  <a:srgbClr val="64748B"/>
                </a:solidFill>
              </a:rPr>
              <a:t>Why fraud detection is hard</a:t>
            </a:r>
            <a:endParaRPr lang="en-US" sz="1000" dirty="0"/>
          </a:p>
        </p:txBody>
      </p:sp>
      <p:sp>
        <p:nvSpPr>
          <p:cNvPr id="10" name="Shape 8"/>
          <p:cNvSpPr/>
          <p:nvPr/>
        </p:nvSpPr>
        <p:spPr>
          <a:xfrm>
            <a:off x="411480" y="201168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576072" y="2167128"/>
            <a:ext cx="457200" cy="457200"/>
          </a:xfrm>
          <a:prstGeom prst="ellipse">
            <a:avLst/>
          </a:prstGeom>
          <a:solidFill>
            <a:srgbClr val="065A82"/>
          </a:solidFill>
          <a:ln/>
        </p:spPr>
      </p:sp>
      <p:sp>
        <p:nvSpPr>
          <p:cNvPr id="12" name="Text 10"/>
          <p:cNvSpPr/>
          <p:nvPr/>
        </p:nvSpPr>
        <p:spPr>
          <a:xfrm>
            <a:off x="576072" y="21671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3" name="Text 11"/>
          <p:cNvSpPr/>
          <p:nvPr/>
        </p:nvSpPr>
        <p:spPr>
          <a:xfrm>
            <a:off x="1124712" y="210312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Dataset</a:t>
            </a:r>
            <a:endParaRPr lang="en-US" sz="1300" dirty="0"/>
          </a:p>
        </p:txBody>
      </p:sp>
      <p:sp>
        <p:nvSpPr>
          <p:cNvPr id="14" name="Text 12"/>
          <p:cNvSpPr/>
          <p:nvPr/>
        </p:nvSpPr>
        <p:spPr>
          <a:xfrm>
            <a:off x="1124712" y="2423160"/>
            <a:ext cx="3200400" cy="256032"/>
          </a:xfrm>
          <a:prstGeom prst="rect">
            <a:avLst/>
          </a:prstGeom>
          <a:noFill/>
          <a:ln/>
        </p:spPr>
        <p:txBody>
          <a:bodyPr wrap="square" lIns="0" tIns="0" rIns="0" bIns="0" rtlCol="0" anchor="t"/>
          <a:lstStyle/>
          <a:p>
            <a:pPr indent="0" marL="0">
              <a:buNone/>
            </a:pPr>
            <a:r>
              <a:rPr lang="en-US" sz="1000" dirty="0">
                <a:solidFill>
                  <a:srgbClr val="64748B"/>
                </a:solidFill>
              </a:rPr>
              <a:t>284K transactions, 0.17% fraud</a:t>
            </a:r>
            <a:endParaRPr lang="en-US" sz="1000" dirty="0"/>
          </a:p>
        </p:txBody>
      </p:sp>
      <p:sp>
        <p:nvSpPr>
          <p:cNvPr id="15" name="Shape 13"/>
          <p:cNvSpPr/>
          <p:nvPr/>
        </p:nvSpPr>
        <p:spPr>
          <a:xfrm>
            <a:off x="411480" y="297180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16" name="Shape 14"/>
          <p:cNvSpPr/>
          <p:nvPr/>
        </p:nvSpPr>
        <p:spPr>
          <a:xfrm>
            <a:off x="576072" y="3127248"/>
            <a:ext cx="457200" cy="457200"/>
          </a:xfrm>
          <a:prstGeom prst="ellipse">
            <a:avLst/>
          </a:prstGeom>
          <a:solidFill>
            <a:srgbClr val="065A82"/>
          </a:solidFill>
          <a:ln/>
        </p:spPr>
      </p:sp>
      <p:sp>
        <p:nvSpPr>
          <p:cNvPr id="17" name="Text 15"/>
          <p:cNvSpPr/>
          <p:nvPr/>
        </p:nvSpPr>
        <p:spPr>
          <a:xfrm>
            <a:off x="576072" y="3127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18" name="Text 16"/>
          <p:cNvSpPr/>
          <p:nvPr/>
        </p:nvSpPr>
        <p:spPr>
          <a:xfrm>
            <a:off x="1124712" y="306324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Related Work</a:t>
            </a:r>
            <a:endParaRPr lang="en-US" sz="1300" dirty="0"/>
          </a:p>
        </p:txBody>
      </p:sp>
      <p:sp>
        <p:nvSpPr>
          <p:cNvPr id="19" name="Text 17"/>
          <p:cNvSpPr/>
          <p:nvPr/>
        </p:nvSpPr>
        <p:spPr>
          <a:xfrm>
            <a:off x="1124712" y="3383280"/>
            <a:ext cx="3200400" cy="256032"/>
          </a:xfrm>
          <a:prstGeom prst="rect">
            <a:avLst/>
          </a:prstGeom>
          <a:noFill/>
          <a:ln/>
        </p:spPr>
        <p:txBody>
          <a:bodyPr wrap="square" lIns="0" tIns="0" rIns="0" bIns="0" rtlCol="0" anchor="t"/>
          <a:lstStyle/>
          <a:p>
            <a:pPr indent="0" marL="0">
              <a:buNone/>
            </a:pPr>
            <a:r>
              <a:rPr lang="en-US" sz="1000" dirty="0">
                <a:solidFill>
                  <a:srgbClr val="64748B"/>
                </a:solidFill>
              </a:rPr>
              <a:t>10 academic papers reviewed</a:t>
            </a:r>
            <a:endParaRPr lang="en-US" sz="1000" dirty="0"/>
          </a:p>
        </p:txBody>
      </p:sp>
      <p:sp>
        <p:nvSpPr>
          <p:cNvPr id="20" name="Shape 18"/>
          <p:cNvSpPr/>
          <p:nvPr/>
        </p:nvSpPr>
        <p:spPr>
          <a:xfrm>
            <a:off x="411480" y="393192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21" name="Shape 19"/>
          <p:cNvSpPr/>
          <p:nvPr/>
        </p:nvSpPr>
        <p:spPr>
          <a:xfrm>
            <a:off x="576072" y="4087368"/>
            <a:ext cx="457200" cy="457200"/>
          </a:xfrm>
          <a:prstGeom prst="ellipse">
            <a:avLst/>
          </a:prstGeom>
          <a:solidFill>
            <a:srgbClr val="065A82"/>
          </a:solidFill>
          <a:ln/>
        </p:spPr>
      </p:sp>
      <p:sp>
        <p:nvSpPr>
          <p:cNvPr id="22" name="Text 20"/>
          <p:cNvSpPr/>
          <p:nvPr/>
        </p:nvSpPr>
        <p:spPr>
          <a:xfrm>
            <a:off x="576072" y="40873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23" name="Text 21"/>
          <p:cNvSpPr/>
          <p:nvPr/>
        </p:nvSpPr>
        <p:spPr>
          <a:xfrm>
            <a:off x="1124712" y="402336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Methodology</a:t>
            </a:r>
            <a:endParaRPr lang="en-US" sz="1300" dirty="0"/>
          </a:p>
        </p:txBody>
      </p:sp>
      <p:sp>
        <p:nvSpPr>
          <p:cNvPr id="24" name="Text 22"/>
          <p:cNvSpPr/>
          <p:nvPr/>
        </p:nvSpPr>
        <p:spPr>
          <a:xfrm>
            <a:off x="1124712" y="4343400"/>
            <a:ext cx="3200400" cy="256032"/>
          </a:xfrm>
          <a:prstGeom prst="rect">
            <a:avLst/>
          </a:prstGeom>
          <a:noFill/>
          <a:ln/>
        </p:spPr>
        <p:txBody>
          <a:bodyPr wrap="square" lIns="0" tIns="0" rIns="0" bIns="0" rtlCol="0" anchor="t"/>
          <a:lstStyle/>
          <a:p>
            <a:pPr indent="0" marL="0">
              <a:buNone/>
            </a:pPr>
            <a:r>
              <a:rPr lang="en-US" sz="1000" dirty="0">
                <a:solidFill>
                  <a:srgbClr val="64748B"/>
                </a:solidFill>
              </a:rPr>
              <a:t>Preprocessing → Train → Evaluate</a:t>
            </a:r>
            <a:endParaRPr lang="en-US" sz="1000" dirty="0"/>
          </a:p>
        </p:txBody>
      </p:sp>
      <p:sp>
        <p:nvSpPr>
          <p:cNvPr id="25" name="Shape 23"/>
          <p:cNvSpPr/>
          <p:nvPr/>
        </p:nvSpPr>
        <p:spPr>
          <a:xfrm>
            <a:off x="4663440" y="105156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26" name="Shape 24"/>
          <p:cNvSpPr/>
          <p:nvPr/>
        </p:nvSpPr>
        <p:spPr>
          <a:xfrm>
            <a:off x="4828032" y="1207008"/>
            <a:ext cx="457200" cy="457200"/>
          </a:xfrm>
          <a:prstGeom prst="ellipse">
            <a:avLst/>
          </a:prstGeom>
          <a:solidFill>
            <a:srgbClr val="065A82"/>
          </a:solidFill>
          <a:ln/>
        </p:spPr>
      </p:sp>
      <p:sp>
        <p:nvSpPr>
          <p:cNvPr id="27" name="Text 25"/>
          <p:cNvSpPr/>
          <p:nvPr/>
        </p:nvSpPr>
        <p:spPr>
          <a:xfrm>
            <a:off x="4828032" y="12070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05</a:t>
            </a:r>
            <a:endParaRPr lang="en-US" sz="1300" dirty="0"/>
          </a:p>
        </p:txBody>
      </p:sp>
      <p:sp>
        <p:nvSpPr>
          <p:cNvPr id="28" name="Text 26"/>
          <p:cNvSpPr/>
          <p:nvPr/>
        </p:nvSpPr>
        <p:spPr>
          <a:xfrm>
            <a:off x="5376672" y="114300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Models</a:t>
            </a:r>
            <a:endParaRPr lang="en-US" sz="1300" dirty="0"/>
          </a:p>
        </p:txBody>
      </p:sp>
      <p:sp>
        <p:nvSpPr>
          <p:cNvPr id="29" name="Text 27"/>
          <p:cNvSpPr/>
          <p:nvPr/>
        </p:nvSpPr>
        <p:spPr>
          <a:xfrm>
            <a:off x="5376672" y="1463040"/>
            <a:ext cx="3200400" cy="256032"/>
          </a:xfrm>
          <a:prstGeom prst="rect">
            <a:avLst/>
          </a:prstGeom>
          <a:noFill/>
          <a:ln/>
        </p:spPr>
        <p:txBody>
          <a:bodyPr wrap="square" lIns="0" tIns="0" rIns="0" bIns="0" rtlCol="0" anchor="t"/>
          <a:lstStyle/>
          <a:p>
            <a:pPr indent="0" marL="0">
              <a:buNone/>
            </a:pPr>
            <a:r>
              <a:rPr lang="en-US" sz="1000" dirty="0">
                <a:solidFill>
                  <a:srgbClr val="64748B"/>
                </a:solidFill>
              </a:rPr>
              <a:t>5 algorithms compared</a:t>
            </a:r>
            <a:endParaRPr lang="en-US" sz="1000" dirty="0"/>
          </a:p>
        </p:txBody>
      </p:sp>
      <p:sp>
        <p:nvSpPr>
          <p:cNvPr id="30" name="Shape 28"/>
          <p:cNvSpPr/>
          <p:nvPr/>
        </p:nvSpPr>
        <p:spPr>
          <a:xfrm>
            <a:off x="4663440" y="201168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31" name="Shape 29"/>
          <p:cNvSpPr/>
          <p:nvPr/>
        </p:nvSpPr>
        <p:spPr>
          <a:xfrm>
            <a:off x="4828032" y="2167128"/>
            <a:ext cx="457200" cy="457200"/>
          </a:xfrm>
          <a:prstGeom prst="ellipse">
            <a:avLst/>
          </a:prstGeom>
          <a:solidFill>
            <a:srgbClr val="065A82"/>
          </a:solidFill>
          <a:ln/>
        </p:spPr>
      </p:sp>
      <p:sp>
        <p:nvSpPr>
          <p:cNvPr id="32" name="Text 30"/>
          <p:cNvSpPr/>
          <p:nvPr/>
        </p:nvSpPr>
        <p:spPr>
          <a:xfrm>
            <a:off x="4828032" y="21671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06</a:t>
            </a:r>
            <a:endParaRPr lang="en-US" sz="1300" dirty="0"/>
          </a:p>
        </p:txBody>
      </p:sp>
      <p:sp>
        <p:nvSpPr>
          <p:cNvPr id="33" name="Text 31"/>
          <p:cNvSpPr/>
          <p:nvPr/>
        </p:nvSpPr>
        <p:spPr>
          <a:xfrm>
            <a:off x="5376672" y="210312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Results</a:t>
            </a:r>
            <a:endParaRPr lang="en-US" sz="1300" dirty="0"/>
          </a:p>
        </p:txBody>
      </p:sp>
      <p:sp>
        <p:nvSpPr>
          <p:cNvPr id="34" name="Text 32"/>
          <p:cNvSpPr/>
          <p:nvPr/>
        </p:nvSpPr>
        <p:spPr>
          <a:xfrm>
            <a:off x="5376672" y="2423160"/>
            <a:ext cx="3200400" cy="256032"/>
          </a:xfrm>
          <a:prstGeom prst="rect">
            <a:avLst/>
          </a:prstGeom>
          <a:noFill/>
          <a:ln/>
        </p:spPr>
        <p:txBody>
          <a:bodyPr wrap="square" lIns="0" tIns="0" rIns="0" bIns="0" rtlCol="0" anchor="t"/>
          <a:lstStyle/>
          <a:p>
            <a:pPr indent="0" marL="0">
              <a:buNone/>
            </a:pPr>
            <a:r>
              <a:rPr lang="en-US" sz="1000" dirty="0">
                <a:solidFill>
                  <a:srgbClr val="64748B"/>
                </a:solidFill>
              </a:rPr>
              <a:t>F1, ROC-AUC, confusion matrices</a:t>
            </a:r>
            <a:endParaRPr lang="en-US" sz="1000" dirty="0"/>
          </a:p>
        </p:txBody>
      </p:sp>
      <p:sp>
        <p:nvSpPr>
          <p:cNvPr id="35" name="Shape 33"/>
          <p:cNvSpPr/>
          <p:nvPr/>
        </p:nvSpPr>
        <p:spPr>
          <a:xfrm>
            <a:off x="4663440" y="297180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36" name="Shape 34"/>
          <p:cNvSpPr/>
          <p:nvPr/>
        </p:nvSpPr>
        <p:spPr>
          <a:xfrm>
            <a:off x="4828032" y="3127248"/>
            <a:ext cx="457200" cy="457200"/>
          </a:xfrm>
          <a:prstGeom prst="ellipse">
            <a:avLst/>
          </a:prstGeom>
          <a:solidFill>
            <a:srgbClr val="065A82"/>
          </a:solidFill>
          <a:ln/>
        </p:spPr>
      </p:sp>
      <p:sp>
        <p:nvSpPr>
          <p:cNvPr id="37" name="Text 35"/>
          <p:cNvSpPr/>
          <p:nvPr/>
        </p:nvSpPr>
        <p:spPr>
          <a:xfrm>
            <a:off x="4828032" y="3127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07</a:t>
            </a:r>
            <a:endParaRPr lang="en-US" sz="1300" dirty="0"/>
          </a:p>
        </p:txBody>
      </p:sp>
      <p:sp>
        <p:nvSpPr>
          <p:cNvPr id="38" name="Text 36"/>
          <p:cNvSpPr/>
          <p:nvPr/>
        </p:nvSpPr>
        <p:spPr>
          <a:xfrm>
            <a:off x="5376672" y="306324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Discussion</a:t>
            </a:r>
            <a:endParaRPr lang="en-US" sz="1300" dirty="0"/>
          </a:p>
        </p:txBody>
      </p:sp>
      <p:sp>
        <p:nvSpPr>
          <p:cNvPr id="39" name="Text 37"/>
          <p:cNvSpPr/>
          <p:nvPr/>
        </p:nvSpPr>
        <p:spPr>
          <a:xfrm>
            <a:off x="5376672" y="3383280"/>
            <a:ext cx="3200400" cy="256032"/>
          </a:xfrm>
          <a:prstGeom prst="rect">
            <a:avLst/>
          </a:prstGeom>
          <a:noFill/>
          <a:ln/>
        </p:spPr>
        <p:txBody>
          <a:bodyPr wrap="square" lIns="0" tIns="0" rIns="0" bIns="0" rtlCol="0" anchor="t"/>
          <a:lstStyle/>
          <a:p>
            <a:pPr indent="0" marL="0">
              <a:buNone/>
            </a:pPr>
            <a:r>
              <a:rPr lang="en-US" sz="1000" dirty="0">
                <a:solidFill>
                  <a:srgbClr val="64748B"/>
                </a:solidFill>
              </a:rPr>
              <a:t>Insights, limitations, false negatives</a:t>
            </a:r>
            <a:endParaRPr lang="en-US" sz="1000" dirty="0"/>
          </a:p>
        </p:txBody>
      </p:sp>
      <p:sp>
        <p:nvSpPr>
          <p:cNvPr id="40" name="Shape 38"/>
          <p:cNvSpPr/>
          <p:nvPr/>
        </p:nvSpPr>
        <p:spPr>
          <a:xfrm>
            <a:off x="4663440" y="3931920"/>
            <a:ext cx="4023360" cy="777240"/>
          </a:xfrm>
          <a:prstGeom prst="roundRect">
            <a:avLst>
              <a:gd name="adj" fmla="val 9412"/>
            </a:avLst>
          </a:prstGeom>
          <a:solidFill>
            <a:srgbClr val="FFFFFF"/>
          </a:solidFill>
          <a:ln/>
          <a:effectLst>
            <a:outerShdw sx="100000" sy="100000" kx="0" ky="0" algn="bl" rotWithShape="0" blurRad="101600" dist="38100" dir="2700000">
              <a:srgbClr val="000000">
                <a:alpha val="12000"/>
              </a:srgbClr>
            </a:outerShdw>
          </a:effectLst>
        </p:spPr>
      </p:sp>
      <p:sp>
        <p:nvSpPr>
          <p:cNvPr id="41" name="Shape 39"/>
          <p:cNvSpPr/>
          <p:nvPr/>
        </p:nvSpPr>
        <p:spPr>
          <a:xfrm>
            <a:off x="4828032" y="4087368"/>
            <a:ext cx="457200" cy="457200"/>
          </a:xfrm>
          <a:prstGeom prst="ellipse">
            <a:avLst/>
          </a:prstGeom>
          <a:solidFill>
            <a:srgbClr val="065A82"/>
          </a:solidFill>
          <a:ln/>
        </p:spPr>
      </p:sp>
      <p:sp>
        <p:nvSpPr>
          <p:cNvPr id="42" name="Text 40"/>
          <p:cNvSpPr/>
          <p:nvPr/>
        </p:nvSpPr>
        <p:spPr>
          <a:xfrm>
            <a:off x="4828032" y="40873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08</a:t>
            </a:r>
            <a:endParaRPr lang="en-US" sz="1300" dirty="0"/>
          </a:p>
        </p:txBody>
      </p:sp>
      <p:sp>
        <p:nvSpPr>
          <p:cNvPr id="43" name="Text 41"/>
          <p:cNvSpPr/>
          <p:nvPr/>
        </p:nvSpPr>
        <p:spPr>
          <a:xfrm>
            <a:off x="5376672" y="4023360"/>
            <a:ext cx="3200400" cy="292608"/>
          </a:xfrm>
          <a:prstGeom prst="rect">
            <a:avLst/>
          </a:prstGeom>
          <a:noFill/>
          <a:ln/>
        </p:spPr>
        <p:txBody>
          <a:bodyPr wrap="square" lIns="0" tIns="0" rIns="0" bIns="0" rtlCol="0" anchor="ctr"/>
          <a:lstStyle/>
          <a:p>
            <a:pPr indent="0" marL="0">
              <a:buNone/>
            </a:pPr>
            <a:r>
              <a:rPr lang="en-US" sz="1300" b="1" dirty="0">
                <a:solidFill>
                  <a:srgbClr val="0B2545"/>
                </a:solidFill>
              </a:rPr>
              <a:t>Conclusion &amp; Future Work</a:t>
            </a:r>
            <a:endParaRPr lang="en-US" sz="1300" dirty="0"/>
          </a:p>
        </p:txBody>
      </p:sp>
      <p:sp>
        <p:nvSpPr>
          <p:cNvPr id="44" name="Text 42"/>
          <p:cNvSpPr/>
          <p:nvPr/>
        </p:nvSpPr>
        <p:spPr>
          <a:xfrm>
            <a:off x="5376672" y="4343400"/>
            <a:ext cx="3200400" cy="256032"/>
          </a:xfrm>
          <a:prstGeom prst="rect">
            <a:avLst/>
          </a:prstGeom>
          <a:noFill/>
          <a:ln/>
        </p:spPr>
        <p:txBody>
          <a:bodyPr wrap="square" lIns="0" tIns="0" rIns="0" bIns="0" rtlCol="0" anchor="t"/>
          <a:lstStyle/>
          <a:p>
            <a:pPr indent="0" marL="0">
              <a:buNone/>
            </a:pPr>
            <a:r>
              <a:rPr lang="en-US" sz="1000" dirty="0">
                <a:solidFill>
                  <a:srgbClr val="64748B"/>
                </a:solidFill>
              </a:rPr>
              <a:t>Next steps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MOTIVATION</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Problem &amp; Motivation</a:t>
            </a:r>
            <a:endParaRPr lang="en-US" sz="2800" dirty="0"/>
          </a:p>
        </p:txBody>
      </p:sp>
      <p:sp>
        <p:nvSpPr>
          <p:cNvPr id="5" name="Shape 3"/>
          <p:cNvSpPr/>
          <p:nvPr/>
        </p:nvSpPr>
        <p:spPr>
          <a:xfrm>
            <a:off x="411480" y="1005840"/>
            <a:ext cx="256032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411480" y="1097280"/>
            <a:ext cx="2560320" cy="777240"/>
          </a:xfrm>
          <a:prstGeom prst="rect">
            <a:avLst/>
          </a:prstGeom>
          <a:noFill/>
          <a:ln/>
        </p:spPr>
        <p:txBody>
          <a:bodyPr wrap="square" lIns="0" tIns="0" rIns="0" bIns="0" rtlCol="0" anchor="ctr"/>
          <a:lstStyle/>
          <a:p>
            <a:pPr algn="ctr" indent="0" marL="0">
              <a:buNone/>
            </a:pPr>
            <a:r>
              <a:rPr lang="en-US" sz="4200" b="1" dirty="0">
                <a:solidFill>
                  <a:srgbClr val="DC2626"/>
                </a:solidFill>
              </a:rPr>
              <a:t>$32B+</a:t>
            </a:r>
            <a:endParaRPr lang="en-US" sz="4200" dirty="0"/>
          </a:p>
        </p:txBody>
      </p:sp>
      <p:sp>
        <p:nvSpPr>
          <p:cNvPr id="7" name="Text 5"/>
          <p:cNvSpPr/>
          <p:nvPr/>
        </p:nvSpPr>
        <p:spPr>
          <a:xfrm>
            <a:off x="411480" y="1847088"/>
            <a:ext cx="2560320" cy="438912"/>
          </a:xfrm>
          <a:prstGeom prst="rect">
            <a:avLst/>
          </a:prstGeom>
          <a:noFill/>
          <a:ln/>
        </p:spPr>
        <p:txBody>
          <a:bodyPr wrap="square" lIns="0" tIns="0" rIns="0" bIns="0" rtlCol="0" anchor="t"/>
          <a:lstStyle/>
          <a:p>
            <a:pPr algn="ctr" indent="0" marL="0">
              <a:buNone/>
            </a:pPr>
            <a:r>
              <a:rPr lang="en-US" sz="1100" dirty="0">
                <a:solidFill>
                  <a:srgbClr val="64748B"/>
                </a:solidFill>
              </a:rPr>
              <a:t>Global card fraud</a:t>
            </a:r>
            <a:endParaRPr lang="en-US" sz="1100" dirty="0"/>
          </a:p>
          <a:p>
            <a:pPr algn="ctr" indent="0" marL="0">
              <a:buNone/>
            </a:pPr>
            <a:r>
              <a:rPr lang="en-US" sz="1100" dirty="0">
                <a:solidFill>
                  <a:srgbClr val="64748B"/>
                </a:solidFill>
              </a:rPr>
              <a:t>losses in 2022</a:t>
            </a:r>
            <a:endParaRPr lang="en-US" sz="1100" dirty="0"/>
          </a:p>
        </p:txBody>
      </p:sp>
      <p:sp>
        <p:nvSpPr>
          <p:cNvPr id="8" name="Shape 6"/>
          <p:cNvSpPr/>
          <p:nvPr/>
        </p:nvSpPr>
        <p:spPr>
          <a:xfrm>
            <a:off x="3291840" y="1005840"/>
            <a:ext cx="256032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3291840" y="1097280"/>
            <a:ext cx="2560320" cy="777240"/>
          </a:xfrm>
          <a:prstGeom prst="rect">
            <a:avLst/>
          </a:prstGeom>
          <a:noFill/>
          <a:ln/>
        </p:spPr>
        <p:txBody>
          <a:bodyPr wrap="square" lIns="0" tIns="0" rIns="0" bIns="0" rtlCol="0" anchor="ctr"/>
          <a:lstStyle/>
          <a:p>
            <a:pPr algn="ctr" indent="0" marL="0">
              <a:buNone/>
            </a:pPr>
            <a:r>
              <a:rPr lang="en-US" sz="4200" b="1" dirty="0">
                <a:solidFill>
                  <a:srgbClr val="D97706"/>
                </a:solidFill>
              </a:rPr>
              <a:t>0.172%</a:t>
            </a:r>
            <a:endParaRPr lang="en-US" sz="4200" dirty="0"/>
          </a:p>
        </p:txBody>
      </p:sp>
      <p:sp>
        <p:nvSpPr>
          <p:cNvPr id="10" name="Text 8"/>
          <p:cNvSpPr/>
          <p:nvPr/>
        </p:nvSpPr>
        <p:spPr>
          <a:xfrm>
            <a:off x="3291840" y="1847088"/>
            <a:ext cx="2560320" cy="438912"/>
          </a:xfrm>
          <a:prstGeom prst="rect">
            <a:avLst/>
          </a:prstGeom>
          <a:noFill/>
          <a:ln/>
        </p:spPr>
        <p:txBody>
          <a:bodyPr wrap="square" lIns="0" tIns="0" rIns="0" bIns="0" rtlCol="0" anchor="t"/>
          <a:lstStyle/>
          <a:p>
            <a:pPr algn="ctr" indent="0" marL="0">
              <a:buNone/>
            </a:pPr>
            <a:r>
              <a:rPr lang="en-US" sz="1100" dirty="0">
                <a:solidFill>
                  <a:srgbClr val="64748B"/>
                </a:solidFill>
              </a:rPr>
              <a:t>Fraud rate in</a:t>
            </a:r>
            <a:endParaRPr lang="en-US" sz="1100" dirty="0"/>
          </a:p>
          <a:p>
            <a:pPr algn="ctr" indent="0" marL="0">
              <a:buNone/>
            </a:pPr>
            <a:r>
              <a:rPr lang="en-US" sz="1100" dirty="0">
                <a:solidFill>
                  <a:srgbClr val="64748B"/>
                </a:solidFill>
              </a:rPr>
              <a:t>our dataset</a:t>
            </a:r>
            <a:endParaRPr lang="en-US" sz="1100" dirty="0"/>
          </a:p>
        </p:txBody>
      </p:sp>
      <p:sp>
        <p:nvSpPr>
          <p:cNvPr id="11" name="Shape 9"/>
          <p:cNvSpPr/>
          <p:nvPr/>
        </p:nvSpPr>
        <p:spPr>
          <a:xfrm>
            <a:off x="6172200" y="1005840"/>
            <a:ext cx="256032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6172200" y="1097280"/>
            <a:ext cx="2560320" cy="777240"/>
          </a:xfrm>
          <a:prstGeom prst="rect">
            <a:avLst/>
          </a:prstGeom>
          <a:noFill/>
          <a:ln/>
        </p:spPr>
        <p:txBody>
          <a:bodyPr wrap="square" lIns="0" tIns="0" rIns="0" bIns="0" rtlCol="0" anchor="ctr"/>
          <a:lstStyle/>
          <a:p>
            <a:pPr algn="ctr" indent="0" marL="0">
              <a:buNone/>
            </a:pPr>
            <a:r>
              <a:rPr lang="en-US" sz="4200" b="1" dirty="0">
                <a:solidFill>
                  <a:srgbClr val="065A82"/>
                </a:solidFill>
              </a:rPr>
              <a:t>578:1</a:t>
            </a:r>
            <a:endParaRPr lang="en-US" sz="4200" dirty="0"/>
          </a:p>
        </p:txBody>
      </p:sp>
      <p:sp>
        <p:nvSpPr>
          <p:cNvPr id="13" name="Text 11"/>
          <p:cNvSpPr/>
          <p:nvPr/>
        </p:nvSpPr>
        <p:spPr>
          <a:xfrm>
            <a:off x="6172200" y="1847088"/>
            <a:ext cx="2560320" cy="438912"/>
          </a:xfrm>
          <a:prstGeom prst="rect">
            <a:avLst/>
          </a:prstGeom>
          <a:noFill/>
          <a:ln/>
        </p:spPr>
        <p:txBody>
          <a:bodyPr wrap="square" lIns="0" tIns="0" rIns="0" bIns="0" rtlCol="0" anchor="t"/>
          <a:lstStyle/>
          <a:p>
            <a:pPr algn="ctr" indent="0" marL="0">
              <a:buNone/>
            </a:pPr>
            <a:r>
              <a:rPr lang="en-US" sz="1100" dirty="0">
                <a:solidFill>
                  <a:srgbClr val="64748B"/>
                </a:solidFill>
              </a:rPr>
              <a:t>Class imbalance</a:t>
            </a:r>
            <a:endParaRPr lang="en-US" sz="1100" dirty="0"/>
          </a:p>
          <a:p>
            <a:pPr algn="ctr" indent="0" marL="0">
              <a:buNone/>
            </a:pPr>
            <a:r>
              <a:rPr lang="en-US" sz="1100" dirty="0">
                <a:solidFill>
                  <a:srgbClr val="64748B"/>
                </a:solidFill>
              </a:rPr>
              <a:t>ratio</a:t>
            </a:r>
            <a:endParaRPr lang="en-US" sz="1100" dirty="0"/>
          </a:p>
        </p:txBody>
      </p:sp>
      <p:sp>
        <p:nvSpPr>
          <p:cNvPr id="14" name="Shape 12"/>
          <p:cNvSpPr/>
          <p:nvPr/>
        </p:nvSpPr>
        <p:spPr>
          <a:xfrm>
            <a:off x="411480" y="2606040"/>
            <a:ext cx="8321040" cy="1508760"/>
          </a:xfrm>
          <a:prstGeom prst="roundRect">
            <a:avLst>
              <a:gd name="adj" fmla="val 4848"/>
            </a:avLst>
          </a:prstGeom>
          <a:solidFill>
            <a:srgbClr val="FFFFFF"/>
          </a:solidFill>
          <a:ln/>
          <a:effectLst>
            <a:outerShdw sx="100000" sy="100000" kx="0" ky="0" algn="bl" rotWithShape="0" blurRad="101600" dist="38100" dir="2700000">
              <a:srgbClr val="000000">
                <a:alpha val="12000"/>
              </a:srgbClr>
            </a:outerShdw>
          </a:effectLst>
        </p:spPr>
      </p:sp>
      <p:sp>
        <p:nvSpPr>
          <p:cNvPr id="15" name="Text 13"/>
          <p:cNvSpPr/>
          <p:nvPr/>
        </p:nvSpPr>
        <p:spPr>
          <a:xfrm>
            <a:off x="685800" y="2724912"/>
            <a:ext cx="7772400" cy="347472"/>
          </a:xfrm>
          <a:prstGeom prst="rect">
            <a:avLst/>
          </a:prstGeom>
          <a:noFill/>
          <a:ln/>
        </p:spPr>
        <p:txBody>
          <a:bodyPr wrap="square" lIns="0" tIns="0" rIns="0" bIns="0" rtlCol="0" anchor="ctr"/>
          <a:lstStyle/>
          <a:p>
            <a:pPr indent="0" marL="0">
              <a:buNone/>
            </a:pPr>
            <a:r>
              <a:rPr lang="en-US" sz="1400" b="1" dirty="0">
                <a:solidFill>
                  <a:srgbClr val="0B2545"/>
                </a:solidFill>
              </a:rPr>
              <a:t>The Core Challenge</a:t>
            </a:r>
            <a:endParaRPr lang="en-US" sz="1400" dirty="0"/>
          </a:p>
        </p:txBody>
      </p:sp>
      <p:sp>
        <p:nvSpPr>
          <p:cNvPr id="16" name="Text 14"/>
          <p:cNvSpPr/>
          <p:nvPr/>
        </p:nvSpPr>
        <p:spPr>
          <a:xfrm>
            <a:off x="685800" y="3090672"/>
            <a:ext cx="7772400" cy="914400"/>
          </a:xfrm>
          <a:prstGeom prst="rect">
            <a:avLst/>
          </a:prstGeom>
          <a:noFill/>
          <a:ln/>
        </p:spPr>
        <p:txBody>
          <a:bodyPr wrap="square" rtlCol="0" anchor="ctr"/>
          <a:lstStyle/>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A naive classifier that always predicts 'Normal' achieves 99.83% accuracy — while catching ZERO fraud.</a:t>
            </a:r>
            <a:endParaRPr lang="en-US" sz="1400" dirty="0"/>
          </a:p>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Standard accuracy is useless here. We need Precision, Recall, and F1-score.</a:t>
            </a:r>
            <a:endParaRPr lang="en-US" sz="1400" dirty="0"/>
          </a:p>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Goal: maximize fraud detection (Recall) while keeping false alarms low (Precision).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DATASET</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Dataset Overview</a:t>
            </a:r>
            <a:endParaRPr lang="en-US" sz="2800" dirty="0"/>
          </a:p>
        </p:txBody>
      </p:sp>
      <p:sp>
        <p:nvSpPr>
          <p:cNvPr id="5" name="Shape 3"/>
          <p:cNvSpPr/>
          <p:nvPr/>
        </p:nvSpPr>
        <p:spPr>
          <a:xfrm>
            <a:off x="411480" y="960120"/>
            <a:ext cx="4114800" cy="3840480"/>
          </a:xfrm>
          <a:prstGeom prst="roundRect">
            <a:avLst>
              <a:gd name="adj" fmla="val 1905"/>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640080" y="1078992"/>
            <a:ext cx="3657600" cy="347472"/>
          </a:xfrm>
          <a:prstGeom prst="rect">
            <a:avLst/>
          </a:prstGeom>
          <a:noFill/>
          <a:ln/>
        </p:spPr>
        <p:txBody>
          <a:bodyPr wrap="square" lIns="0" tIns="0" rIns="0" bIns="0" rtlCol="0" anchor="ctr"/>
          <a:lstStyle/>
          <a:p>
            <a:pPr indent="0" marL="0">
              <a:buNone/>
            </a:pPr>
            <a:r>
              <a:rPr lang="en-US" sz="1400" b="1" dirty="0">
                <a:solidFill>
                  <a:srgbClr val="0B2545"/>
                </a:solidFill>
              </a:rPr>
              <a:t>ULB Credit Card Fraud Dataset</a:t>
            </a:r>
            <a:endParaRPr lang="en-US" sz="1400" dirty="0"/>
          </a:p>
        </p:txBody>
      </p:sp>
      <p:sp>
        <p:nvSpPr>
          <p:cNvPr id="7" name="Text 5"/>
          <p:cNvSpPr/>
          <p:nvPr/>
        </p:nvSpPr>
        <p:spPr>
          <a:xfrm>
            <a:off x="640080" y="1481328"/>
            <a:ext cx="3657600" cy="3108960"/>
          </a:xfrm>
          <a:prstGeom prst="rect">
            <a:avLst/>
          </a:prstGeom>
          <a:noFill/>
          <a:ln/>
        </p:spPr>
        <p:txBody>
          <a:bodyPr wrap="square" rtlCol="0" anchor="ctr"/>
          <a:lstStyle/>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Source: Université Libre de Bruxelles + Worldline</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Available on Kaggle (DbCL v1.0 license)</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284,807 transactions — 2 days, Sept 2013</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31 columns:</a:t>
            </a:r>
            <a:endParaRPr lang="en-US" sz="1400" dirty="0"/>
          </a:p>
          <a:p>
            <a:pPr lvl="1" marL="685800" indent="-342900">
              <a:spcAft>
                <a:spcPts val="100"/>
              </a:spcAft>
              <a:buSzPct val="100000"/>
              <a:buChar char="•"/>
            </a:pPr>
            <a:r>
              <a:rPr lang="en-US" sz="1200" dirty="0">
                <a:solidFill>
                  <a:srgbClr val="64748B"/>
                </a:solidFill>
                <a:latin typeface="Calibri" pitchFamily="34" charset="0"/>
                <a:ea typeface="Calibri" pitchFamily="34" charset="-122"/>
                <a:cs typeface="Calibri" pitchFamily="34" charset="-120"/>
              </a:rPr>
              <a:t>V1–V28: anonymized PCA components</a:t>
            </a:r>
            <a:endParaRPr lang="en-US" sz="1400" dirty="0"/>
          </a:p>
          <a:p>
            <a:pPr lvl="1" marL="685800" indent="-342900">
              <a:spcAft>
                <a:spcPts val="100"/>
              </a:spcAft>
              <a:buSzPct val="100000"/>
              <a:buChar char="•"/>
            </a:pPr>
            <a:r>
              <a:rPr lang="en-US" sz="1200" dirty="0">
                <a:solidFill>
                  <a:srgbClr val="64748B"/>
                </a:solidFill>
                <a:latin typeface="Calibri" pitchFamily="34" charset="0"/>
                <a:ea typeface="Calibri" pitchFamily="34" charset="-122"/>
                <a:cs typeface="Calibri" pitchFamily="34" charset="-120"/>
              </a:rPr>
              <a:t>Amount: transaction value in euros</a:t>
            </a:r>
            <a:endParaRPr lang="en-US" sz="1400" dirty="0"/>
          </a:p>
          <a:p>
            <a:pPr lvl="1" marL="685800" indent="-342900">
              <a:spcAft>
                <a:spcPts val="100"/>
              </a:spcAft>
              <a:buSzPct val="100000"/>
              <a:buChar char="•"/>
            </a:pPr>
            <a:r>
              <a:rPr lang="en-US" sz="1200" dirty="0">
                <a:solidFill>
                  <a:srgbClr val="64748B"/>
                </a:solidFill>
                <a:latin typeface="Calibri" pitchFamily="34" charset="0"/>
                <a:ea typeface="Calibri" pitchFamily="34" charset="-122"/>
                <a:cs typeface="Calibri" pitchFamily="34" charset="-120"/>
              </a:rPr>
              <a:t>Time: seconds since first transaction</a:t>
            </a:r>
            <a:endParaRPr lang="en-US" sz="1400" dirty="0"/>
          </a:p>
          <a:p>
            <a:pPr lvl="1" marL="685800" indent="-342900">
              <a:spcAft>
                <a:spcPts val="100"/>
              </a:spcAft>
              <a:buSzPct val="100000"/>
              <a:buChar char="•"/>
            </a:pPr>
            <a:r>
              <a:rPr lang="en-US" sz="1200" dirty="0">
                <a:solidFill>
                  <a:srgbClr val="64748B"/>
                </a:solidFill>
                <a:latin typeface="Calibri" pitchFamily="34" charset="0"/>
                <a:ea typeface="Calibri" pitchFamily="34" charset="-122"/>
                <a:cs typeface="Calibri" pitchFamily="34" charset="-120"/>
              </a:rPr>
              <a:t>Class: 0 = Normal, 1 = Fraud</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No missing values</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V1–V28 already standardized by PCA</a:t>
            </a:r>
            <a:endParaRPr lang="en-US" sz="1400" dirty="0"/>
          </a:p>
        </p:txBody>
      </p:sp>
      <p:sp>
        <p:nvSpPr>
          <p:cNvPr id="8" name="Shape 6"/>
          <p:cNvSpPr/>
          <p:nvPr/>
        </p:nvSpPr>
        <p:spPr>
          <a:xfrm>
            <a:off x="4754880" y="960120"/>
            <a:ext cx="3977640" cy="3840480"/>
          </a:xfrm>
          <a:prstGeom prst="roundRect">
            <a:avLst>
              <a:gd name="adj" fmla="val 1905"/>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4937760" y="1078992"/>
            <a:ext cx="3566160" cy="320040"/>
          </a:xfrm>
          <a:prstGeom prst="rect">
            <a:avLst/>
          </a:prstGeom>
          <a:noFill/>
          <a:ln/>
        </p:spPr>
        <p:txBody>
          <a:bodyPr wrap="square" lIns="0" tIns="0" rIns="0" bIns="0" rtlCol="0" anchor="ctr"/>
          <a:lstStyle/>
          <a:p>
            <a:pPr algn="ctr" indent="0" marL="0">
              <a:buNone/>
            </a:pPr>
            <a:r>
              <a:rPr lang="en-US" sz="1300" b="1" dirty="0">
                <a:solidFill>
                  <a:srgbClr val="0B2545"/>
                </a:solidFill>
              </a:rPr>
              <a:t>Class Distribution (log scale)</a:t>
            </a:r>
            <a:endParaRPr lang="en-US" sz="1300" dirty="0"/>
          </a:p>
        </p:txBody>
      </p:sp>
      <p:graphicFrame>
        <p:nvGraphicFramePr>
          <p:cNvPr id="10" name="Chart 0" descr=""/>
          <p:cNvGraphicFramePr/>
          <p:nvPr/>
        </p:nvGraphicFramePr>
        <p:xfrm>
          <a:off x="4754880" y="1417320"/>
          <a:ext cx="3977640" cy="31089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LITERATURE</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Related Work — 10 Papers Reviewed</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2377440"/>
                <a:gridCol w="2377440"/>
                <a:gridCol w="1554480"/>
                <a:gridCol w="1005840"/>
                <a:gridCol w="1005840"/>
              </a:tblGrid>
              <a:tr h="384048">
                <a:tc>
                  <a:txBody>
                    <a:bodyPr/>
                    <a:lstStyle/>
                    <a:p>
                      <a:pPr algn="ctr" indent="0" marL="0">
                        <a:buNone/>
                      </a:pPr>
                      <a:r>
                        <a:rPr lang="en-US" sz="1000" b="1" dirty="0">
                          <a:solidFill>
                            <a:srgbClr val="FFFFFF"/>
                          </a:solidFill>
                        </a:rPr>
                        <a:t>Paper</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rPr>
                        <a:t>Method</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rPr>
                        <a:t>Dataset</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rPr>
                        <a:t>F1</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rPr>
                        <a:t>AUC</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r>
              <a:tr h="384048">
                <a:tc>
                  <a:txBody>
                    <a:bodyPr/>
                    <a:lstStyle/>
                    <a:p>
                      <a:pPr indent="0" marL="0">
                        <a:buNone/>
                      </a:pPr>
                      <a:r>
                        <a:rPr lang="en-US" sz="1000" dirty="0">
                          <a:solidFill>
                            <a:srgbClr val="1E293B"/>
                          </a:solidFill>
                        </a:rPr>
                        <a:t>Dal Pozzolo et al. (2015)</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indent="0" marL="0">
                        <a:buNone/>
                      </a:pPr>
                      <a:r>
                        <a:rPr lang="en-US" sz="1000" dirty="0">
                          <a:solidFill>
                            <a:srgbClr val="1E293B"/>
                          </a:solidFill>
                        </a:rPr>
                        <a:t>RF + feedback resampling</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indent="0" marL="0">
                        <a:buNone/>
                      </a:pPr>
                      <a:r>
                        <a:rPr lang="en-US" sz="1000" dirty="0">
                          <a:solidFill>
                            <a:srgbClr val="1E293B"/>
                          </a:solidFill>
                        </a:rPr>
                        <a:t>Worldline</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000" dirty="0">
                          <a:solidFill>
                            <a:srgbClr val="1E293B"/>
                          </a:solidFill>
                        </a:rPr>
                        <a:t>0.81</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000" dirty="0">
                          <a:solidFill>
                            <a:srgbClr val="1E293B"/>
                          </a:solidFill>
                        </a:rPr>
                        <a:t>0.96</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r>
              <a:tr h="384048">
                <a:tc>
                  <a:txBody>
                    <a:bodyPr/>
                    <a:lstStyle/>
                    <a:p>
                      <a:pPr indent="0" marL="0">
                        <a:buNone/>
                      </a:pPr>
                      <a:r>
                        <a:rPr lang="en-US" sz="1000" dirty="0">
                          <a:solidFill>
                            <a:srgbClr val="1E293B"/>
                          </a:solidFill>
                        </a:rPr>
                        <a:t>Sahin &amp; Duman (2018)</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indent="0" marL="0">
                        <a:buNone/>
                      </a:pPr>
                      <a:r>
                        <a:rPr lang="en-US" sz="1000" dirty="0">
                          <a:solidFill>
                            <a:srgbClr val="1E293B"/>
                          </a:solidFill>
                        </a:rPr>
                        <a:t>Immune System + DT</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indent="0" marL="0">
                        <a:buNone/>
                      </a:pPr>
                      <a:r>
                        <a:rPr lang="en-US" sz="1000" dirty="0">
                          <a:solidFill>
                            <a:srgbClr val="1E293B"/>
                          </a:solidFill>
                        </a:rPr>
                        <a:t>Turkish bank</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algn="ctr" indent="0" marL="0">
                        <a:buNone/>
                      </a:pPr>
                      <a:r>
                        <a:rPr lang="en-US" sz="1000" dirty="0">
                          <a:solidFill>
                            <a:srgbClr val="1E293B"/>
                          </a:solidFill>
                        </a:rPr>
                        <a:t>0.83</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algn="ctr" indent="0" marL="0">
                        <a:buNone/>
                      </a:pPr>
                      <a:r>
                        <a:rPr lang="en-US" sz="1000" dirty="0">
                          <a:solidFill>
                            <a:srgbClr val="1E293B"/>
                          </a:solidFill>
                        </a:rPr>
                        <a:t>0.94</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r>
              <a:tr h="384048">
                <a:tc>
                  <a:txBody>
                    <a:bodyPr/>
                    <a:lstStyle/>
                    <a:p>
                      <a:pPr indent="0" marL="0">
                        <a:buNone/>
                      </a:pPr>
                      <a:r>
                        <a:rPr lang="en-US" sz="1000" dirty="0">
                          <a:solidFill>
                            <a:srgbClr val="1E293B"/>
                          </a:solidFill>
                        </a:rPr>
                        <a:t>Alarfaj et al. (2022)</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indent="0" marL="0">
                        <a:buNone/>
                      </a:pPr>
                      <a:r>
                        <a:rPr lang="en-US" sz="1000" dirty="0">
                          <a:solidFill>
                            <a:srgbClr val="1E293B"/>
                          </a:solidFill>
                        </a:rPr>
                        <a:t>SVM/RF/XGB/DNN comparison</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indent="0" marL="0">
                        <a:buNone/>
                      </a:pPr>
                      <a:r>
                        <a:rPr lang="en-US" sz="1000" dirty="0">
                          <a:solidFill>
                            <a:srgbClr val="1E293B"/>
                          </a:solidFill>
                        </a:rPr>
                        <a:t>ULB Kaggle</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000" dirty="0">
                          <a:solidFill>
                            <a:srgbClr val="1E293B"/>
                          </a:solidFill>
                        </a:rPr>
                        <a:t>0.87</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000" dirty="0">
                          <a:solidFill>
                            <a:srgbClr val="1E293B"/>
                          </a:solidFill>
                        </a:rPr>
                        <a:t>0.98</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r>
              <a:tr h="384048">
                <a:tc>
                  <a:txBody>
                    <a:bodyPr/>
                    <a:lstStyle/>
                    <a:p>
                      <a:pPr indent="0" marL="0">
                        <a:buNone/>
                      </a:pPr>
                      <a:r>
                        <a:rPr lang="en-US" sz="1000" dirty="0">
                          <a:solidFill>
                            <a:srgbClr val="1E293B"/>
                          </a:solidFill>
                        </a:rPr>
                        <a:t>Bagga et al. (2023)</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indent="0" marL="0">
                        <a:buNone/>
                      </a:pPr>
                      <a:r>
                        <a:rPr lang="en-US" sz="1000" dirty="0">
                          <a:solidFill>
                            <a:srgbClr val="1E293B"/>
                          </a:solidFill>
                        </a:rPr>
                        <a:t>XGBoost + SMOTE</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indent="0" marL="0">
                        <a:buNone/>
                      </a:pPr>
                      <a:r>
                        <a:rPr lang="en-US" sz="1000" dirty="0">
                          <a:solidFill>
                            <a:srgbClr val="1E293B"/>
                          </a:solidFill>
                        </a:rPr>
                        <a:t>ULB Kaggle</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algn="ctr" indent="0" marL="0">
                        <a:buNone/>
                      </a:pPr>
                      <a:r>
                        <a:rPr lang="en-US" sz="1000" dirty="0">
                          <a:solidFill>
                            <a:srgbClr val="1E293B"/>
                          </a:solidFill>
                        </a:rPr>
                        <a:t>0.89</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algn="ctr" indent="0" marL="0">
                        <a:buNone/>
                      </a:pPr>
                      <a:r>
                        <a:rPr lang="en-US" sz="1000" dirty="0">
                          <a:solidFill>
                            <a:srgbClr val="1E293B"/>
                          </a:solidFill>
                        </a:rPr>
                        <a:t>0.97</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r>
              <a:tr h="384048">
                <a:tc>
                  <a:txBody>
                    <a:bodyPr/>
                    <a:lstStyle/>
                    <a:p>
                      <a:pPr indent="0" marL="0">
                        <a:buNone/>
                      </a:pPr>
                      <a:r>
                        <a:rPr lang="en-US" sz="1000" dirty="0">
                          <a:solidFill>
                            <a:srgbClr val="1E293B"/>
                          </a:solidFill>
                        </a:rPr>
                        <a:t>Wang et al. (2023)</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indent="0" marL="0">
                        <a:buNone/>
                      </a:pPr>
                      <a:r>
                        <a:rPr lang="en-US" sz="1000" dirty="0">
                          <a:solidFill>
                            <a:srgbClr val="1E293B"/>
                          </a:solidFill>
                        </a:rPr>
                        <a:t>LSTM + Autoencoder</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indent="0" marL="0">
                        <a:buNone/>
                      </a:pPr>
                      <a:r>
                        <a:rPr lang="en-US" sz="1000" dirty="0">
                          <a:solidFill>
                            <a:srgbClr val="1E293B"/>
                          </a:solidFill>
                        </a:rPr>
                        <a:t>ULB Kaggle</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000" dirty="0">
                          <a:solidFill>
                            <a:srgbClr val="1E293B"/>
                          </a:solidFill>
                        </a:rPr>
                        <a:t>0.88</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000" dirty="0">
                          <a:solidFill>
                            <a:srgbClr val="1E293B"/>
                          </a:solidFill>
                        </a:rPr>
                        <a:t>0.98</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r>
              <a:tr h="384048">
                <a:tc>
                  <a:txBody>
                    <a:bodyPr/>
                    <a:lstStyle/>
                    <a:p>
                      <a:pPr indent="0" marL="0">
                        <a:buNone/>
                      </a:pPr>
                      <a:r>
                        <a:rPr lang="en-US" sz="1000" dirty="0">
                          <a:solidFill>
                            <a:srgbClr val="1E293B"/>
                          </a:solidFill>
                        </a:rPr>
                        <a:t>Randhawa et al. (2022)</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indent="0" marL="0">
                        <a:buNone/>
                      </a:pPr>
                      <a:r>
                        <a:rPr lang="en-US" sz="1000" dirty="0">
                          <a:solidFill>
                            <a:srgbClr val="1E293B"/>
                          </a:solidFill>
                        </a:rPr>
                        <a:t>Stacking (RF+LR+XGB)</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indent="0" marL="0">
                        <a:buNone/>
                      </a:pPr>
                      <a:r>
                        <a:rPr lang="en-US" sz="1000" dirty="0">
                          <a:solidFill>
                            <a:srgbClr val="1E293B"/>
                          </a:solidFill>
                        </a:rPr>
                        <a:t>Multiple</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algn="ctr" indent="0" marL="0">
                        <a:buNone/>
                      </a:pPr>
                      <a:r>
                        <a:rPr lang="en-US" sz="1000" dirty="0">
                          <a:solidFill>
                            <a:srgbClr val="1E293B"/>
                          </a:solidFill>
                        </a:rPr>
                        <a:t>0.91</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c>
                  <a:txBody>
                    <a:bodyPr/>
                    <a:lstStyle/>
                    <a:p>
                      <a:pPr algn="ctr" indent="0" marL="0">
                        <a:buNone/>
                      </a:pPr>
                      <a:r>
                        <a:rPr lang="en-US" sz="1000" dirty="0">
                          <a:solidFill>
                            <a:srgbClr val="1E293B"/>
                          </a:solidFill>
                        </a:rPr>
                        <a:t>0.99</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4FB"/>
                    </a:solidFill>
                  </a:tcPr>
                </a:tc>
              </a:tr>
              <a:tr h="384048">
                <a:tc>
                  <a:txBody>
                    <a:bodyPr/>
                    <a:lstStyle/>
                    <a:p>
                      <a:pPr indent="0" marL="0">
                        <a:buNone/>
                      </a:pPr>
                      <a:r>
                        <a:rPr lang="en-US" sz="1000" b="1" dirty="0">
                          <a:solidFill>
                            <a:srgbClr val="0B2545"/>
                          </a:solidFill>
                        </a:rPr>
                        <a:t>This Work (2026)</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indent="0" marL="0">
                        <a:buNone/>
                      </a:pPr>
                      <a:r>
                        <a:rPr lang="en-US" sz="1000" dirty="0">
                          <a:solidFill>
                            <a:srgbClr val="0B2545"/>
                          </a:solidFill>
                        </a:rPr>
                        <a:t>5-model + tuned RF</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indent="0" marL="0">
                        <a:buNone/>
                      </a:pPr>
                      <a:r>
                        <a:rPr lang="en-US" sz="1000" dirty="0">
                          <a:solidFill>
                            <a:srgbClr val="0B2545"/>
                          </a:solidFill>
                        </a:rPr>
                        <a:t>ULB Kaggle</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algn="ctr" indent="0" marL="0">
                        <a:buNone/>
                      </a:pPr>
                      <a:r>
                        <a:rPr lang="en-US" sz="1000" b="1" dirty="0">
                          <a:solidFill>
                            <a:srgbClr val="065A82"/>
                          </a:solidFill>
                        </a:rPr>
                        <a:t>~0.88</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algn="ctr" indent="0" marL="0">
                        <a:buNone/>
                      </a:pPr>
                      <a:r>
                        <a:rPr lang="en-US" sz="1000" b="1" dirty="0">
                          <a:solidFill>
                            <a:srgbClr val="065A82"/>
                          </a:solidFill>
                        </a:rPr>
                        <a:t>~0.98</a:t>
                      </a: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r>
            </a:tbl>
          </a:graphicData>
        </a:graphic>
      </p:graphicFrame>
      <p:sp>
        <p:nvSpPr>
          <p:cNvPr id="6" name="Text 3"/>
          <p:cNvSpPr/>
          <p:nvPr/>
        </p:nvSpPr>
        <p:spPr>
          <a:xfrm>
            <a:off x="411480" y="4224528"/>
            <a:ext cx="8321040" cy="457200"/>
          </a:xfrm>
          <a:prstGeom prst="rect">
            <a:avLst/>
          </a:prstGeom>
          <a:noFill/>
          <a:ln/>
        </p:spPr>
        <p:txBody>
          <a:bodyPr wrap="square" rtlCol="0" anchor="ctr"/>
          <a:lstStyle/>
          <a:p>
            <a:pPr algn="l" indent="0" marL="0">
              <a:buNone/>
            </a:pPr>
            <a:r>
              <a:rPr lang="en-US" sz="1100" i="1" dirty="0">
                <a:solidFill>
                  <a:srgbClr val="1C7293"/>
                </a:solidFill>
              </a:rPr>
              <a:t>Key finding: Ensemble methods (RF, XGBoost) consistently outperform linear models. Class imbalance handling is critical.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METHODOLOGY</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End-to-End Pipeline</a:t>
            </a:r>
            <a:endParaRPr lang="en-US" sz="2800" dirty="0"/>
          </a:p>
        </p:txBody>
      </p:sp>
      <p:sp>
        <p:nvSpPr>
          <p:cNvPr id="5" name="Shape 3"/>
          <p:cNvSpPr/>
          <p:nvPr/>
        </p:nvSpPr>
        <p:spPr>
          <a:xfrm>
            <a:off x="512064" y="1417320"/>
            <a:ext cx="1261872" cy="1234440"/>
          </a:xfrm>
          <a:prstGeom prst="roundRect">
            <a:avLst>
              <a:gd name="adj" fmla="val 5926"/>
            </a:avLst>
          </a:prstGeom>
          <a:solidFill>
            <a:srgbClr val="1C7293"/>
          </a:solidFill>
          <a:ln/>
        </p:spPr>
      </p:sp>
      <p:sp>
        <p:nvSpPr>
          <p:cNvPr id="6" name="Shape 4"/>
          <p:cNvSpPr/>
          <p:nvPr/>
        </p:nvSpPr>
        <p:spPr>
          <a:xfrm>
            <a:off x="923544" y="1490472"/>
            <a:ext cx="438912" cy="438912"/>
          </a:xfrm>
          <a:prstGeom prst="ellipse">
            <a:avLst/>
          </a:prstGeom>
          <a:solidFill>
            <a:srgbClr val="FFFFFF">
              <a:alpha val="20000"/>
            </a:srgbClr>
          </a:solidFill>
          <a:ln/>
        </p:spPr>
      </p:sp>
      <p:sp>
        <p:nvSpPr>
          <p:cNvPr id="7" name="Text 5"/>
          <p:cNvSpPr/>
          <p:nvPr/>
        </p:nvSpPr>
        <p:spPr>
          <a:xfrm>
            <a:off x="923544" y="14904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6"/>
          <p:cNvSpPr/>
          <p:nvPr/>
        </p:nvSpPr>
        <p:spPr>
          <a:xfrm>
            <a:off x="512064" y="1947672"/>
            <a:ext cx="1261872" cy="384048"/>
          </a:xfrm>
          <a:prstGeom prst="rect">
            <a:avLst/>
          </a:prstGeom>
          <a:noFill/>
          <a:ln/>
        </p:spPr>
        <p:txBody>
          <a:bodyPr wrap="square" lIns="0" tIns="0" rIns="0" bIns="0" rtlCol="0" anchor="ctr"/>
          <a:lstStyle/>
          <a:p>
            <a:pPr algn="ctr" indent="0" marL="0">
              <a:buNone/>
            </a:pPr>
            <a:r>
              <a:rPr lang="en-US" sz="1100" b="1" dirty="0">
                <a:solidFill>
                  <a:srgbClr val="FFFFFF"/>
                </a:solidFill>
              </a:rPr>
              <a:t>Load Data</a:t>
            </a:r>
            <a:endParaRPr lang="en-US" sz="1100" dirty="0"/>
          </a:p>
        </p:txBody>
      </p:sp>
      <p:sp>
        <p:nvSpPr>
          <p:cNvPr id="9" name="Text 7"/>
          <p:cNvSpPr/>
          <p:nvPr/>
        </p:nvSpPr>
        <p:spPr>
          <a:xfrm>
            <a:off x="512064" y="2295144"/>
            <a:ext cx="1261872" cy="329184"/>
          </a:xfrm>
          <a:prstGeom prst="rect">
            <a:avLst/>
          </a:prstGeom>
          <a:noFill/>
          <a:ln/>
        </p:spPr>
        <p:txBody>
          <a:bodyPr wrap="square" lIns="0" tIns="0" rIns="0" bIns="0" rtlCol="0" anchor="t"/>
          <a:lstStyle/>
          <a:p>
            <a:pPr algn="ctr" indent="0" marL="0">
              <a:buNone/>
            </a:pPr>
            <a:r>
              <a:rPr lang="en-US" sz="900" dirty="0">
                <a:solidFill>
                  <a:srgbClr val="C8E6F5"/>
                </a:solidFill>
              </a:rPr>
              <a:t>CSV → DataFrame</a:t>
            </a:r>
            <a:endParaRPr lang="en-US" sz="900" dirty="0"/>
          </a:p>
          <a:p>
            <a:pPr algn="ctr" indent="0" marL="0">
              <a:buNone/>
            </a:pPr>
            <a:r>
              <a:rPr lang="en-US" sz="900" dirty="0">
                <a:solidFill>
                  <a:srgbClr val="C8E6F5"/>
                </a:solidFill>
              </a:rPr>
              <a:t>284,807 rows</a:t>
            </a:r>
            <a:endParaRPr lang="en-US" sz="900" dirty="0"/>
          </a:p>
        </p:txBody>
      </p:sp>
      <p:sp>
        <p:nvSpPr>
          <p:cNvPr id="10" name="Shape 8"/>
          <p:cNvSpPr/>
          <p:nvPr/>
        </p:nvSpPr>
        <p:spPr>
          <a:xfrm>
            <a:off x="1773936" y="2034540"/>
            <a:ext cx="109728" cy="0"/>
          </a:xfrm>
          <a:prstGeom prst="line">
            <a:avLst/>
          </a:prstGeom>
          <a:noFill/>
          <a:ln w="25400">
            <a:solidFill>
              <a:srgbClr val="0096C7"/>
            </a:solidFill>
            <a:prstDash val="solid"/>
          </a:ln>
        </p:spPr>
      </p:sp>
      <p:sp>
        <p:nvSpPr>
          <p:cNvPr id="11" name="Shape 9"/>
          <p:cNvSpPr/>
          <p:nvPr/>
        </p:nvSpPr>
        <p:spPr>
          <a:xfrm>
            <a:off x="1883664" y="1417320"/>
            <a:ext cx="1261872" cy="1234440"/>
          </a:xfrm>
          <a:prstGeom prst="roundRect">
            <a:avLst>
              <a:gd name="adj" fmla="val 5926"/>
            </a:avLst>
          </a:prstGeom>
          <a:solidFill>
            <a:srgbClr val="1C7293"/>
          </a:solidFill>
          <a:ln/>
        </p:spPr>
      </p:sp>
      <p:sp>
        <p:nvSpPr>
          <p:cNvPr id="12" name="Shape 10"/>
          <p:cNvSpPr/>
          <p:nvPr/>
        </p:nvSpPr>
        <p:spPr>
          <a:xfrm>
            <a:off x="2295144" y="1490472"/>
            <a:ext cx="438912" cy="438912"/>
          </a:xfrm>
          <a:prstGeom prst="ellipse">
            <a:avLst/>
          </a:prstGeom>
          <a:solidFill>
            <a:srgbClr val="FFFFFF">
              <a:alpha val="20000"/>
            </a:srgbClr>
          </a:solidFill>
          <a:ln/>
        </p:spPr>
      </p:sp>
      <p:sp>
        <p:nvSpPr>
          <p:cNvPr id="13" name="Text 11"/>
          <p:cNvSpPr/>
          <p:nvPr/>
        </p:nvSpPr>
        <p:spPr>
          <a:xfrm>
            <a:off x="2295144" y="14904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4" name="Text 12"/>
          <p:cNvSpPr/>
          <p:nvPr/>
        </p:nvSpPr>
        <p:spPr>
          <a:xfrm>
            <a:off x="1883664" y="1947672"/>
            <a:ext cx="1261872" cy="384048"/>
          </a:xfrm>
          <a:prstGeom prst="rect">
            <a:avLst/>
          </a:prstGeom>
          <a:noFill/>
          <a:ln/>
        </p:spPr>
        <p:txBody>
          <a:bodyPr wrap="square" lIns="0" tIns="0" rIns="0" bIns="0" rtlCol="0" anchor="ctr"/>
          <a:lstStyle/>
          <a:p>
            <a:pPr algn="ctr" indent="0" marL="0">
              <a:buNone/>
            </a:pPr>
            <a:r>
              <a:rPr lang="en-US" sz="1100" b="1" dirty="0">
                <a:solidFill>
                  <a:srgbClr val="FFFFFF"/>
                </a:solidFill>
              </a:rPr>
              <a:t>EDA</a:t>
            </a:r>
            <a:endParaRPr lang="en-US" sz="1100" dirty="0"/>
          </a:p>
        </p:txBody>
      </p:sp>
      <p:sp>
        <p:nvSpPr>
          <p:cNvPr id="15" name="Text 13"/>
          <p:cNvSpPr/>
          <p:nvPr/>
        </p:nvSpPr>
        <p:spPr>
          <a:xfrm>
            <a:off x="1883664" y="2295144"/>
            <a:ext cx="1261872" cy="329184"/>
          </a:xfrm>
          <a:prstGeom prst="rect">
            <a:avLst/>
          </a:prstGeom>
          <a:noFill/>
          <a:ln/>
        </p:spPr>
        <p:txBody>
          <a:bodyPr wrap="square" lIns="0" tIns="0" rIns="0" bIns="0" rtlCol="0" anchor="t"/>
          <a:lstStyle/>
          <a:p>
            <a:pPr algn="ctr" indent="0" marL="0">
              <a:buNone/>
            </a:pPr>
            <a:r>
              <a:rPr lang="en-US" sz="900" dirty="0">
                <a:solidFill>
                  <a:srgbClr val="C8E6F5"/>
                </a:solidFill>
              </a:rPr>
              <a:t>Distributions,</a:t>
            </a:r>
            <a:endParaRPr lang="en-US" sz="900" dirty="0"/>
          </a:p>
          <a:p>
            <a:pPr algn="ctr" indent="0" marL="0">
              <a:buNone/>
            </a:pPr>
            <a:r>
              <a:rPr lang="en-US" sz="900" dirty="0">
                <a:solidFill>
                  <a:srgbClr val="C8E6F5"/>
                </a:solidFill>
              </a:rPr>
              <a:t>correlations</a:t>
            </a:r>
            <a:endParaRPr lang="en-US" sz="900" dirty="0"/>
          </a:p>
        </p:txBody>
      </p:sp>
      <p:sp>
        <p:nvSpPr>
          <p:cNvPr id="16" name="Shape 14"/>
          <p:cNvSpPr/>
          <p:nvPr/>
        </p:nvSpPr>
        <p:spPr>
          <a:xfrm>
            <a:off x="3145536" y="2034540"/>
            <a:ext cx="109728" cy="0"/>
          </a:xfrm>
          <a:prstGeom prst="line">
            <a:avLst/>
          </a:prstGeom>
          <a:noFill/>
          <a:ln w="25400">
            <a:solidFill>
              <a:srgbClr val="0096C7"/>
            </a:solidFill>
            <a:prstDash val="solid"/>
          </a:ln>
        </p:spPr>
      </p:sp>
      <p:sp>
        <p:nvSpPr>
          <p:cNvPr id="17" name="Shape 15"/>
          <p:cNvSpPr/>
          <p:nvPr/>
        </p:nvSpPr>
        <p:spPr>
          <a:xfrm>
            <a:off x="3255264" y="1417320"/>
            <a:ext cx="1261872" cy="1234440"/>
          </a:xfrm>
          <a:prstGeom prst="roundRect">
            <a:avLst>
              <a:gd name="adj" fmla="val 5926"/>
            </a:avLst>
          </a:prstGeom>
          <a:solidFill>
            <a:srgbClr val="065A82"/>
          </a:solidFill>
          <a:ln/>
        </p:spPr>
      </p:sp>
      <p:sp>
        <p:nvSpPr>
          <p:cNvPr id="18" name="Shape 16"/>
          <p:cNvSpPr/>
          <p:nvPr/>
        </p:nvSpPr>
        <p:spPr>
          <a:xfrm>
            <a:off x="3666744" y="1490472"/>
            <a:ext cx="438912" cy="438912"/>
          </a:xfrm>
          <a:prstGeom prst="ellipse">
            <a:avLst/>
          </a:prstGeom>
          <a:solidFill>
            <a:srgbClr val="FFFFFF">
              <a:alpha val="20000"/>
            </a:srgbClr>
          </a:solidFill>
          <a:ln/>
        </p:spPr>
      </p:sp>
      <p:sp>
        <p:nvSpPr>
          <p:cNvPr id="19" name="Text 17"/>
          <p:cNvSpPr/>
          <p:nvPr/>
        </p:nvSpPr>
        <p:spPr>
          <a:xfrm>
            <a:off x="3666744" y="14904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0" name="Text 18"/>
          <p:cNvSpPr/>
          <p:nvPr/>
        </p:nvSpPr>
        <p:spPr>
          <a:xfrm>
            <a:off x="3255264" y="1947672"/>
            <a:ext cx="1261872" cy="384048"/>
          </a:xfrm>
          <a:prstGeom prst="rect">
            <a:avLst/>
          </a:prstGeom>
          <a:noFill/>
          <a:ln/>
        </p:spPr>
        <p:txBody>
          <a:bodyPr wrap="square" lIns="0" tIns="0" rIns="0" bIns="0" rtlCol="0" anchor="ctr"/>
          <a:lstStyle/>
          <a:p>
            <a:pPr algn="ctr" indent="0" marL="0">
              <a:buNone/>
            </a:pPr>
            <a:r>
              <a:rPr lang="en-US" sz="1100" b="1" dirty="0">
                <a:solidFill>
                  <a:srgbClr val="FFFFFF"/>
                </a:solidFill>
              </a:rPr>
              <a:t>Stratified</a:t>
            </a:r>
            <a:endParaRPr lang="en-US" sz="1100" dirty="0"/>
          </a:p>
          <a:p>
            <a:pPr algn="ctr" indent="0" marL="0">
              <a:buNone/>
            </a:pPr>
            <a:r>
              <a:rPr lang="en-US" sz="1100" b="1" dirty="0">
                <a:solidFill>
                  <a:srgbClr val="FFFFFF"/>
                </a:solidFill>
              </a:rPr>
              <a:t>Split</a:t>
            </a:r>
            <a:endParaRPr lang="en-US" sz="1100" dirty="0"/>
          </a:p>
        </p:txBody>
      </p:sp>
      <p:sp>
        <p:nvSpPr>
          <p:cNvPr id="21" name="Text 19"/>
          <p:cNvSpPr/>
          <p:nvPr/>
        </p:nvSpPr>
        <p:spPr>
          <a:xfrm>
            <a:off x="3255264" y="2295144"/>
            <a:ext cx="1261872" cy="329184"/>
          </a:xfrm>
          <a:prstGeom prst="rect">
            <a:avLst/>
          </a:prstGeom>
          <a:noFill/>
          <a:ln/>
        </p:spPr>
        <p:txBody>
          <a:bodyPr wrap="square" lIns="0" tIns="0" rIns="0" bIns="0" rtlCol="0" anchor="t"/>
          <a:lstStyle/>
          <a:p>
            <a:pPr algn="ctr" indent="0" marL="0">
              <a:buNone/>
            </a:pPr>
            <a:r>
              <a:rPr lang="en-US" sz="900" dirty="0">
                <a:solidFill>
                  <a:srgbClr val="C8E6F5"/>
                </a:solidFill>
              </a:rPr>
              <a:t>70% train</a:t>
            </a:r>
            <a:endParaRPr lang="en-US" sz="900" dirty="0"/>
          </a:p>
          <a:p>
            <a:pPr algn="ctr" indent="0" marL="0">
              <a:buNone/>
            </a:pPr>
            <a:r>
              <a:rPr lang="en-US" sz="900" dirty="0">
                <a:solidFill>
                  <a:srgbClr val="C8E6F5"/>
                </a:solidFill>
              </a:rPr>
              <a:t>30% test</a:t>
            </a:r>
            <a:endParaRPr lang="en-US" sz="900" dirty="0"/>
          </a:p>
        </p:txBody>
      </p:sp>
      <p:sp>
        <p:nvSpPr>
          <p:cNvPr id="22" name="Shape 20"/>
          <p:cNvSpPr/>
          <p:nvPr/>
        </p:nvSpPr>
        <p:spPr>
          <a:xfrm>
            <a:off x="4517136" y="2034540"/>
            <a:ext cx="109728" cy="0"/>
          </a:xfrm>
          <a:prstGeom prst="line">
            <a:avLst/>
          </a:prstGeom>
          <a:noFill/>
          <a:ln w="25400">
            <a:solidFill>
              <a:srgbClr val="0096C7"/>
            </a:solidFill>
            <a:prstDash val="solid"/>
          </a:ln>
        </p:spPr>
      </p:sp>
      <p:sp>
        <p:nvSpPr>
          <p:cNvPr id="23" name="Shape 21"/>
          <p:cNvSpPr/>
          <p:nvPr/>
        </p:nvSpPr>
        <p:spPr>
          <a:xfrm>
            <a:off x="4626864" y="1417320"/>
            <a:ext cx="1261872" cy="1234440"/>
          </a:xfrm>
          <a:prstGeom prst="roundRect">
            <a:avLst>
              <a:gd name="adj" fmla="val 5926"/>
            </a:avLst>
          </a:prstGeom>
          <a:solidFill>
            <a:srgbClr val="065A82"/>
          </a:solidFill>
          <a:ln/>
        </p:spPr>
      </p:sp>
      <p:sp>
        <p:nvSpPr>
          <p:cNvPr id="24" name="Shape 22"/>
          <p:cNvSpPr/>
          <p:nvPr/>
        </p:nvSpPr>
        <p:spPr>
          <a:xfrm>
            <a:off x="5038344" y="1490472"/>
            <a:ext cx="438912" cy="438912"/>
          </a:xfrm>
          <a:prstGeom prst="ellipse">
            <a:avLst/>
          </a:prstGeom>
          <a:solidFill>
            <a:srgbClr val="FFFFFF">
              <a:alpha val="20000"/>
            </a:srgbClr>
          </a:solidFill>
          <a:ln/>
        </p:spPr>
      </p:sp>
      <p:sp>
        <p:nvSpPr>
          <p:cNvPr id="25" name="Text 23"/>
          <p:cNvSpPr/>
          <p:nvPr/>
        </p:nvSpPr>
        <p:spPr>
          <a:xfrm>
            <a:off x="5038344" y="14904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6" name="Text 24"/>
          <p:cNvSpPr/>
          <p:nvPr/>
        </p:nvSpPr>
        <p:spPr>
          <a:xfrm>
            <a:off x="4626864" y="1947672"/>
            <a:ext cx="1261872" cy="384048"/>
          </a:xfrm>
          <a:prstGeom prst="rect">
            <a:avLst/>
          </a:prstGeom>
          <a:noFill/>
          <a:ln/>
        </p:spPr>
        <p:txBody>
          <a:bodyPr wrap="square" lIns="0" tIns="0" rIns="0" bIns="0" rtlCol="0" anchor="ctr"/>
          <a:lstStyle/>
          <a:p>
            <a:pPr algn="ctr" indent="0" marL="0">
              <a:buNone/>
            </a:pPr>
            <a:r>
              <a:rPr lang="en-US" sz="1100" b="1" dirty="0">
                <a:solidFill>
                  <a:srgbClr val="FFFFFF"/>
                </a:solidFill>
              </a:rPr>
              <a:t>Scale</a:t>
            </a:r>
            <a:endParaRPr lang="en-US" sz="1100" dirty="0"/>
          </a:p>
        </p:txBody>
      </p:sp>
      <p:sp>
        <p:nvSpPr>
          <p:cNvPr id="27" name="Text 25"/>
          <p:cNvSpPr/>
          <p:nvPr/>
        </p:nvSpPr>
        <p:spPr>
          <a:xfrm>
            <a:off x="4626864" y="2295144"/>
            <a:ext cx="1261872" cy="329184"/>
          </a:xfrm>
          <a:prstGeom prst="rect">
            <a:avLst/>
          </a:prstGeom>
          <a:noFill/>
          <a:ln/>
        </p:spPr>
        <p:txBody>
          <a:bodyPr wrap="square" lIns="0" tIns="0" rIns="0" bIns="0" rtlCol="0" anchor="t"/>
          <a:lstStyle/>
          <a:p>
            <a:pPr algn="ctr" indent="0" marL="0">
              <a:buNone/>
            </a:pPr>
            <a:r>
              <a:rPr lang="en-US" sz="900" dirty="0">
                <a:solidFill>
                  <a:srgbClr val="C8E6F5"/>
                </a:solidFill>
              </a:rPr>
              <a:t>StandardScaler</a:t>
            </a:r>
            <a:endParaRPr lang="en-US" sz="900" dirty="0"/>
          </a:p>
          <a:p>
            <a:pPr algn="ctr" indent="0" marL="0">
              <a:buNone/>
            </a:pPr>
            <a:r>
              <a:rPr lang="en-US" sz="900" dirty="0">
                <a:solidFill>
                  <a:srgbClr val="C8E6F5"/>
                </a:solidFill>
              </a:rPr>
              <a:t>(train only)</a:t>
            </a:r>
            <a:endParaRPr lang="en-US" sz="900" dirty="0"/>
          </a:p>
        </p:txBody>
      </p:sp>
      <p:sp>
        <p:nvSpPr>
          <p:cNvPr id="28" name="Shape 26"/>
          <p:cNvSpPr/>
          <p:nvPr/>
        </p:nvSpPr>
        <p:spPr>
          <a:xfrm>
            <a:off x="5888736" y="2034540"/>
            <a:ext cx="109728" cy="0"/>
          </a:xfrm>
          <a:prstGeom prst="line">
            <a:avLst/>
          </a:prstGeom>
          <a:noFill/>
          <a:ln w="25400">
            <a:solidFill>
              <a:srgbClr val="0096C7"/>
            </a:solidFill>
            <a:prstDash val="solid"/>
          </a:ln>
        </p:spPr>
      </p:sp>
      <p:sp>
        <p:nvSpPr>
          <p:cNvPr id="29" name="Shape 27"/>
          <p:cNvSpPr/>
          <p:nvPr/>
        </p:nvSpPr>
        <p:spPr>
          <a:xfrm>
            <a:off x="5998464" y="1417320"/>
            <a:ext cx="1261872" cy="1234440"/>
          </a:xfrm>
          <a:prstGeom prst="roundRect">
            <a:avLst>
              <a:gd name="adj" fmla="val 5926"/>
            </a:avLst>
          </a:prstGeom>
          <a:solidFill>
            <a:srgbClr val="0B2545"/>
          </a:solidFill>
          <a:ln/>
        </p:spPr>
      </p:sp>
      <p:sp>
        <p:nvSpPr>
          <p:cNvPr id="30" name="Shape 28"/>
          <p:cNvSpPr/>
          <p:nvPr/>
        </p:nvSpPr>
        <p:spPr>
          <a:xfrm>
            <a:off x="6409944" y="1490472"/>
            <a:ext cx="438912" cy="438912"/>
          </a:xfrm>
          <a:prstGeom prst="ellipse">
            <a:avLst/>
          </a:prstGeom>
          <a:solidFill>
            <a:srgbClr val="FFFFFF">
              <a:alpha val="20000"/>
            </a:srgbClr>
          </a:solidFill>
          <a:ln/>
        </p:spPr>
      </p:sp>
      <p:sp>
        <p:nvSpPr>
          <p:cNvPr id="31" name="Text 29"/>
          <p:cNvSpPr/>
          <p:nvPr/>
        </p:nvSpPr>
        <p:spPr>
          <a:xfrm>
            <a:off x="6409944" y="14904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2" name="Text 30"/>
          <p:cNvSpPr/>
          <p:nvPr/>
        </p:nvSpPr>
        <p:spPr>
          <a:xfrm>
            <a:off x="5998464" y="1947672"/>
            <a:ext cx="1261872" cy="384048"/>
          </a:xfrm>
          <a:prstGeom prst="rect">
            <a:avLst/>
          </a:prstGeom>
          <a:noFill/>
          <a:ln/>
        </p:spPr>
        <p:txBody>
          <a:bodyPr wrap="square" lIns="0" tIns="0" rIns="0" bIns="0" rtlCol="0" anchor="ctr"/>
          <a:lstStyle/>
          <a:p>
            <a:pPr algn="ctr" indent="0" marL="0">
              <a:buNone/>
            </a:pPr>
            <a:r>
              <a:rPr lang="en-US" sz="1100" b="1" dirty="0">
                <a:solidFill>
                  <a:srgbClr val="FFFFFF"/>
                </a:solidFill>
              </a:rPr>
              <a:t>Train</a:t>
            </a:r>
            <a:endParaRPr lang="en-US" sz="1100" dirty="0"/>
          </a:p>
          <a:p>
            <a:pPr algn="ctr" indent="0" marL="0">
              <a:buNone/>
            </a:pPr>
            <a:r>
              <a:rPr lang="en-US" sz="1100" b="1" dirty="0">
                <a:solidFill>
                  <a:srgbClr val="FFFFFF"/>
                </a:solidFill>
              </a:rPr>
              <a:t>5 Models</a:t>
            </a:r>
            <a:endParaRPr lang="en-US" sz="1100" dirty="0"/>
          </a:p>
        </p:txBody>
      </p:sp>
      <p:sp>
        <p:nvSpPr>
          <p:cNvPr id="33" name="Text 31"/>
          <p:cNvSpPr/>
          <p:nvPr/>
        </p:nvSpPr>
        <p:spPr>
          <a:xfrm>
            <a:off x="5998464" y="2295144"/>
            <a:ext cx="1261872" cy="329184"/>
          </a:xfrm>
          <a:prstGeom prst="rect">
            <a:avLst/>
          </a:prstGeom>
          <a:noFill/>
          <a:ln/>
        </p:spPr>
        <p:txBody>
          <a:bodyPr wrap="square" lIns="0" tIns="0" rIns="0" bIns="0" rtlCol="0" anchor="t"/>
          <a:lstStyle/>
          <a:p>
            <a:pPr algn="ctr" indent="0" marL="0">
              <a:buNone/>
            </a:pPr>
            <a:r>
              <a:rPr lang="en-US" sz="900" dirty="0">
                <a:solidFill>
                  <a:srgbClr val="C8E6F5"/>
                </a:solidFill>
              </a:rPr>
              <a:t>CV + tune</a:t>
            </a:r>
            <a:endParaRPr lang="en-US" sz="900" dirty="0"/>
          </a:p>
          <a:p>
            <a:pPr algn="ctr" indent="0" marL="0">
              <a:buNone/>
            </a:pPr>
            <a:r>
              <a:rPr lang="en-US" sz="900" dirty="0">
                <a:solidFill>
                  <a:srgbClr val="C8E6F5"/>
                </a:solidFill>
              </a:rPr>
              <a:t>RF</a:t>
            </a:r>
            <a:endParaRPr lang="en-US" sz="900" dirty="0"/>
          </a:p>
        </p:txBody>
      </p:sp>
      <p:sp>
        <p:nvSpPr>
          <p:cNvPr id="34" name="Shape 32"/>
          <p:cNvSpPr/>
          <p:nvPr/>
        </p:nvSpPr>
        <p:spPr>
          <a:xfrm>
            <a:off x="7260336" y="2034540"/>
            <a:ext cx="109728" cy="0"/>
          </a:xfrm>
          <a:prstGeom prst="line">
            <a:avLst/>
          </a:prstGeom>
          <a:noFill/>
          <a:ln w="25400">
            <a:solidFill>
              <a:srgbClr val="0096C7"/>
            </a:solidFill>
            <a:prstDash val="solid"/>
          </a:ln>
        </p:spPr>
      </p:sp>
      <p:sp>
        <p:nvSpPr>
          <p:cNvPr id="35" name="Shape 33"/>
          <p:cNvSpPr/>
          <p:nvPr/>
        </p:nvSpPr>
        <p:spPr>
          <a:xfrm>
            <a:off x="7370064" y="1417320"/>
            <a:ext cx="1261872" cy="1234440"/>
          </a:xfrm>
          <a:prstGeom prst="roundRect">
            <a:avLst>
              <a:gd name="adj" fmla="val 5926"/>
            </a:avLst>
          </a:prstGeom>
          <a:solidFill>
            <a:srgbClr val="0B2545"/>
          </a:solidFill>
          <a:ln/>
        </p:spPr>
      </p:sp>
      <p:sp>
        <p:nvSpPr>
          <p:cNvPr id="36" name="Shape 34"/>
          <p:cNvSpPr/>
          <p:nvPr/>
        </p:nvSpPr>
        <p:spPr>
          <a:xfrm>
            <a:off x="7781544" y="1490472"/>
            <a:ext cx="438912" cy="438912"/>
          </a:xfrm>
          <a:prstGeom prst="ellipse">
            <a:avLst/>
          </a:prstGeom>
          <a:solidFill>
            <a:srgbClr val="FFFFFF">
              <a:alpha val="20000"/>
            </a:srgbClr>
          </a:solidFill>
          <a:ln/>
        </p:spPr>
      </p:sp>
      <p:sp>
        <p:nvSpPr>
          <p:cNvPr id="37" name="Text 35"/>
          <p:cNvSpPr/>
          <p:nvPr/>
        </p:nvSpPr>
        <p:spPr>
          <a:xfrm>
            <a:off x="7781544" y="14904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8" name="Text 36"/>
          <p:cNvSpPr/>
          <p:nvPr/>
        </p:nvSpPr>
        <p:spPr>
          <a:xfrm>
            <a:off x="7370064" y="1947672"/>
            <a:ext cx="1261872" cy="384048"/>
          </a:xfrm>
          <a:prstGeom prst="rect">
            <a:avLst/>
          </a:prstGeom>
          <a:noFill/>
          <a:ln/>
        </p:spPr>
        <p:txBody>
          <a:bodyPr wrap="square" lIns="0" tIns="0" rIns="0" bIns="0" rtlCol="0" anchor="ctr"/>
          <a:lstStyle/>
          <a:p>
            <a:pPr algn="ctr" indent="0" marL="0">
              <a:buNone/>
            </a:pPr>
            <a:r>
              <a:rPr lang="en-US" sz="1100" b="1" dirty="0">
                <a:solidFill>
                  <a:srgbClr val="FFFFFF"/>
                </a:solidFill>
              </a:rPr>
              <a:t>Evaluate</a:t>
            </a:r>
            <a:endParaRPr lang="en-US" sz="1100" dirty="0"/>
          </a:p>
        </p:txBody>
      </p:sp>
      <p:sp>
        <p:nvSpPr>
          <p:cNvPr id="39" name="Text 37"/>
          <p:cNvSpPr/>
          <p:nvPr/>
        </p:nvSpPr>
        <p:spPr>
          <a:xfrm>
            <a:off x="7370064" y="2295144"/>
            <a:ext cx="1261872" cy="329184"/>
          </a:xfrm>
          <a:prstGeom prst="rect">
            <a:avLst/>
          </a:prstGeom>
          <a:noFill/>
          <a:ln/>
        </p:spPr>
        <p:txBody>
          <a:bodyPr wrap="square" lIns="0" tIns="0" rIns="0" bIns="0" rtlCol="0" anchor="t"/>
          <a:lstStyle/>
          <a:p>
            <a:pPr algn="ctr" indent="0" marL="0">
              <a:buNone/>
            </a:pPr>
            <a:r>
              <a:rPr lang="en-US" sz="900" dirty="0">
                <a:solidFill>
                  <a:srgbClr val="C8E6F5"/>
                </a:solidFill>
              </a:rPr>
              <a:t>F1, AUC,</a:t>
            </a:r>
            <a:endParaRPr lang="en-US" sz="900" dirty="0"/>
          </a:p>
          <a:p>
            <a:pPr algn="ctr" indent="0" marL="0">
              <a:buNone/>
            </a:pPr>
            <a:r>
              <a:rPr lang="en-US" sz="900" dirty="0">
                <a:solidFill>
                  <a:srgbClr val="C8E6F5"/>
                </a:solidFill>
              </a:rPr>
              <a:t>Confusion matrix</a:t>
            </a:r>
            <a:endParaRPr lang="en-US" sz="900" dirty="0"/>
          </a:p>
        </p:txBody>
      </p:sp>
      <p:sp>
        <p:nvSpPr>
          <p:cNvPr id="40" name="Shape 38"/>
          <p:cNvSpPr/>
          <p:nvPr/>
        </p:nvSpPr>
        <p:spPr>
          <a:xfrm>
            <a:off x="411480" y="2834640"/>
            <a:ext cx="8321040" cy="1920240"/>
          </a:xfrm>
          <a:prstGeom prst="roundRect">
            <a:avLst>
              <a:gd name="adj" fmla="val 3810"/>
            </a:avLst>
          </a:prstGeom>
          <a:solidFill>
            <a:srgbClr val="FFFFFF"/>
          </a:solidFill>
          <a:ln/>
          <a:effectLst>
            <a:outerShdw sx="100000" sy="100000" kx="0" ky="0" algn="bl" rotWithShape="0" blurRad="101600" dist="38100" dir="2700000">
              <a:srgbClr val="000000">
                <a:alpha val="12000"/>
              </a:srgbClr>
            </a:outerShdw>
          </a:effectLst>
        </p:spPr>
      </p:sp>
      <p:sp>
        <p:nvSpPr>
          <p:cNvPr id="41" name="Text 39"/>
          <p:cNvSpPr/>
          <p:nvPr/>
        </p:nvSpPr>
        <p:spPr>
          <a:xfrm>
            <a:off x="685800" y="2926080"/>
            <a:ext cx="7772400" cy="320040"/>
          </a:xfrm>
          <a:prstGeom prst="rect">
            <a:avLst/>
          </a:prstGeom>
          <a:noFill/>
          <a:ln/>
        </p:spPr>
        <p:txBody>
          <a:bodyPr wrap="square" lIns="0" tIns="0" rIns="0" bIns="0" rtlCol="0" anchor="ctr"/>
          <a:lstStyle/>
          <a:p>
            <a:pPr indent="0" marL="0">
              <a:buNone/>
            </a:pPr>
            <a:r>
              <a:rPr lang="en-US" sz="1300" b="1" dirty="0">
                <a:solidFill>
                  <a:srgbClr val="0B2545"/>
                </a:solidFill>
              </a:rPr>
              <a:t>Key Design Decisions</a:t>
            </a:r>
            <a:endParaRPr lang="en-US" sz="1300" dirty="0"/>
          </a:p>
        </p:txBody>
      </p:sp>
      <p:sp>
        <p:nvSpPr>
          <p:cNvPr id="42" name="Text 40"/>
          <p:cNvSpPr/>
          <p:nvPr/>
        </p:nvSpPr>
        <p:spPr>
          <a:xfrm>
            <a:off x="685800" y="3291840"/>
            <a:ext cx="7772400" cy="1325880"/>
          </a:xfrm>
          <a:prstGeom prst="rect">
            <a:avLst/>
          </a:prstGeom>
          <a:noFill/>
          <a:ln/>
        </p:spPr>
        <p:txBody>
          <a:bodyPr wrap="square" rtlCol="0" anchor="ctr"/>
          <a:lstStyle/>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Stratified split: guarantees the 0.17% fraud rate is preserved in both train and test subsets.</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Scaler fit on train only: prevents test-set statistics from influencing scaling — no data leakage.</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Class-weight balancing instead of SMOTE: avoids synthetic sample leakage across the split boundary.</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F1-score as primary CV metric: appropriate for severe class imbalance; accuracy is misleading here.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MODELS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5 Models Compared</a:t>
            </a:r>
            <a:endParaRPr lang="en-US" sz="2800" dirty="0"/>
          </a:p>
        </p:txBody>
      </p:sp>
      <p:sp>
        <p:nvSpPr>
          <p:cNvPr id="5" name="Shape 3"/>
          <p:cNvSpPr/>
          <p:nvPr/>
        </p:nvSpPr>
        <p:spPr>
          <a:xfrm>
            <a:off x="411480" y="1005840"/>
            <a:ext cx="1572768" cy="3474720"/>
          </a:xfrm>
          <a:prstGeom prst="roundRect">
            <a:avLst>
              <a:gd name="adj" fmla="val 4651"/>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411480" y="1005840"/>
            <a:ext cx="1572768" cy="502920"/>
          </a:xfrm>
          <a:prstGeom prst="rect">
            <a:avLst/>
          </a:prstGeom>
          <a:solidFill>
            <a:srgbClr val="9CA3AF"/>
          </a:solidFill>
          <a:ln/>
        </p:spPr>
      </p:sp>
      <p:sp>
        <p:nvSpPr>
          <p:cNvPr id="7" name="Shape 5"/>
          <p:cNvSpPr/>
          <p:nvPr/>
        </p:nvSpPr>
        <p:spPr>
          <a:xfrm>
            <a:off x="411480" y="1005840"/>
            <a:ext cx="1572768" cy="502920"/>
          </a:xfrm>
          <a:prstGeom prst="roundRect">
            <a:avLst>
              <a:gd name="adj" fmla="val 14545"/>
            </a:avLst>
          </a:prstGeom>
          <a:solidFill>
            <a:srgbClr val="9CA3AF"/>
          </a:solidFill>
          <a:ln/>
        </p:spPr>
      </p:sp>
      <p:sp>
        <p:nvSpPr>
          <p:cNvPr id="8" name="Text 6"/>
          <p:cNvSpPr/>
          <p:nvPr/>
        </p:nvSpPr>
        <p:spPr>
          <a:xfrm>
            <a:off x="411480" y="1060704"/>
            <a:ext cx="1572768" cy="201168"/>
          </a:xfrm>
          <a:prstGeom prst="rect">
            <a:avLst/>
          </a:prstGeom>
          <a:noFill/>
          <a:ln/>
        </p:spPr>
        <p:txBody>
          <a:bodyPr wrap="square" lIns="0" tIns="0" rIns="0" bIns="0" rtlCol="0" anchor="ctr"/>
          <a:lstStyle/>
          <a:p>
            <a:pPr algn="ctr" indent="0" marL="0">
              <a:buNone/>
            </a:pPr>
            <a:r>
              <a:rPr lang="en-US" sz="850" b="1" dirty="0">
                <a:solidFill>
                  <a:srgbClr val="FFFFFF"/>
                </a:solidFill>
              </a:rPr>
              <a:t>BASELINE</a:t>
            </a:r>
            <a:endParaRPr lang="en-US" sz="850" dirty="0"/>
          </a:p>
        </p:txBody>
      </p:sp>
      <p:sp>
        <p:nvSpPr>
          <p:cNvPr id="9" name="Text 7"/>
          <p:cNvSpPr/>
          <p:nvPr/>
        </p:nvSpPr>
        <p:spPr>
          <a:xfrm>
            <a:off x="411480" y="1261872"/>
            <a:ext cx="1572768" cy="384048"/>
          </a:xfrm>
          <a:prstGeom prst="rect">
            <a:avLst/>
          </a:prstGeom>
          <a:noFill/>
          <a:ln/>
        </p:spPr>
        <p:txBody>
          <a:bodyPr wrap="square" lIns="0" tIns="0" rIns="0" bIns="0" rtlCol="0" anchor="t"/>
          <a:lstStyle/>
          <a:p>
            <a:pPr algn="ctr" indent="0" marL="0">
              <a:buNone/>
            </a:pPr>
            <a:r>
              <a:rPr lang="en-US" sz="1150" b="1" dirty="0">
                <a:solidFill>
                  <a:srgbClr val="FFFFFF"/>
                </a:solidFill>
              </a:rPr>
              <a:t>Dummy</a:t>
            </a:r>
            <a:endParaRPr lang="en-US" sz="1150" dirty="0"/>
          </a:p>
        </p:txBody>
      </p:sp>
      <p:sp>
        <p:nvSpPr>
          <p:cNvPr id="10" name="Text 8"/>
          <p:cNvSpPr/>
          <p:nvPr/>
        </p:nvSpPr>
        <p:spPr>
          <a:xfrm>
            <a:off x="411480" y="1719072"/>
            <a:ext cx="1572768" cy="914400"/>
          </a:xfrm>
          <a:prstGeom prst="rect">
            <a:avLst/>
          </a:prstGeom>
          <a:noFill/>
          <a:ln/>
        </p:spPr>
        <p:txBody>
          <a:bodyPr wrap="square" lIns="101600" tIns="101600" rIns="101600" bIns="101600" rtlCol="0" anchor="t"/>
          <a:lstStyle/>
          <a:p>
            <a:pPr algn="ctr" indent="0" marL="0">
              <a:buNone/>
            </a:pPr>
            <a:r>
              <a:rPr lang="en-US" sz="1000" dirty="0">
                <a:solidFill>
                  <a:srgbClr val="0B2545"/>
                </a:solidFill>
              </a:rPr>
              <a:t>Always predicts</a:t>
            </a:r>
            <a:endParaRPr lang="en-US" sz="1000" dirty="0"/>
          </a:p>
          <a:p>
            <a:pPr algn="ctr" indent="0" marL="0">
              <a:buNone/>
            </a:pPr>
            <a:r>
              <a:rPr lang="en-US" sz="1000" dirty="0">
                <a:solidFill>
                  <a:srgbClr val="0B2545"/>
                </a:solidFill>
              </a:rPr>
              <a:t>'Normal'</a:t>
            </a:r>
            <a:endParaRPr lang="en-US" sz="1000" dirty="0"/>
          </a:p>
          <a:p>
            <a:pPr algn="ctr" indent="0" marL="0">
              <a:buNone/>
            </a:pPr>
            <a:r>
              <a:rPr lang="en-US" sz="1000" dirty="0">
                <a:solidFill>
                  <a:srgbClr val="0B2545"/>
                </a:solidFill>
              </a:rPr>
              <a:t>Lower bound only</a:t>
            </a:r>
            <a:endParaRPr lang="en-US" sz="1000" dirty="0"/>
          </a:p>
        </p:txBody>
      </p:sp>
      <p:sp>
        <p:nvSpPr>
          <p:cNvPr id="11" name="Shape 9"/>
          <p:cNvSpPr/>
          <p:nvPr/>
        </p:nvSpPr>
        <p:spPr>
          <a:xfrm>
            <a:off x="2130552" y="1005840"/>
            <a:ext cx="1572768" cy="3474720"/>
          </a:xfrm>
          <a:prstGeom prst="roundRect">
            <a:avLst>
              <a:gd name="adj" fmla="val 4651"/>
            </a:avLst>
          </a:prstGeom>
          <a:solidFill>
            <a:srgbClr val="FFFFFF"/>
          </a:solidFill>
          <a:ln/>
          <a:effectLst>
            <a:outerShdw sx="100000" sy="100000" kx="0" ky="0" algn="bl" rotWithShape="0" blurRad="101600" dist="38100" dir="2700000">
              <a:srgbClr val="000000">
                <a:alpha val="12000"/>
              </a:srgbClr>
            </a:outerShdw>
          </a:effectLst>
        </p:spPr>
      </p:sp>
      <p:sp>
        <p:nvSpPr>
          <p:cNvPr id="12" name="Shape 10"/>
          <p:cNvSpPr/>
          <p:nvPr/>
        </p:nvSpPr>
        <p:spPr>
          <a:xfrm>
            <a:off x="2130552" y="1005840"/>
            <a:ext cx="1572768" cy="502920"/>
          </a:xfrm>
          <a:prstGeom prst="rect">
            <a:avLst/>
          </a:prstGeom>
          <a:solidFill>
            <a:srgbClr val="1C7293"/>
          </a:solidFill>
          <a:ln/>
        </p:spPr>
      </p:sp>
      <p:sp>
        <p:nvSpPr>
          <p:cNvPr id="13" name="Shape 11"/>
          <p:cNvSpPr/>
          <p:nvPr/>
        </p:nvSpPr>
        <p:spPr>
          <a:xfrm>
            <a:off x="2130552" y="1005840"/>
            <a:ext cx="1572768" cy="502920"/>
          </a:xfrm>
          <a:prstGeom prst="roundRect">
            <a:avLst>
              <a:gd name="adj" fmla="val 14545"/>
            </a:avLst>
          </a:prstGeom>
          <a:solidFill>
            <a:srgbClr val="1C7293"/>
          </a:solidFill>
          <a:ln/>
        </p:spPr>
      </p:sp>
      <p:sp>
        <p:nvSpPr>
          <p:cNvPr id="14" name="Text 12"/>
          <p:cNvSpPr/>
          <p:nvPr/>
        </p:nvSpPr>
        <p:spPr>
          <a:xfrm>
            <a:off x="2130552" y="1060704"/>
            <a:ext cx="1572768" cy="201168"/>
          </a:xfrm>
          <a:prstGeom prst="rect">
            <a:avLst/>
          </a:prstGeom>
          <a:noFill/>
          <a:ln/>
        </p:spPr>
        <p:txBody>
          <a:bodyPr wrap="square" lIns="0" tIns="0" rIns="0" bIns="0" rtlCol="0" anchor="ctr"/>
          <a:lstStyle/>
          <a:p>
            <a:pPr algn="ctr" indent="0" marL="0">
              <a:buNone/>
            </a:pPr>
            <a:r>
              <a:rPr lang="en-US" sz="850" b="1" dirty="0">
                <a:solidFill>
                  <a:srgbClr val="FFFFFF"/>
                </a:solidFill>
              </a:rPr>
              <a:t>LINEAR</a:t>
            </a:r>
            <a:endParaRPr lang="en-US" sz="850" dirty="0"/>
          </a:p>
        </p:txBody>
      </p:sp>
      <p:sp>
        <p:nvSpPr>
          <p:cNvPr id="15" name="Text 13"/>
          <p:cNvSpPr/>
          <p:nvPr/>
        </p:nvSpPr>
        <p:spPr>
          <a:xfrm>
            <a:off x="2130552" y="1261872"/>
            <a:ext cx="1572768" cy="384048"/>
          </a:xfrm>
          <a:prstGeom prst="rect">
            <a:avLst/>
          </a:prstGeom>
          <a:noFill/>
          <a:ln/>
        </p:spPr>
        <p:txBody>
          <a:bodyPr wrap="square" lIns="0" tIns="0" rIns="0" bIns="0" rtlCol="0" anchor="t"/>
          <a:lstStyle/>
          <a:p>
            <a:pPr algn="ctr" indent="0" marL="0">
              <a:buNone/>
            </a:pPr>
            <a:r>
              <a:rPr lang="en-US" sz="1150" b="1" dirty="0">
                <a:solidFill>
                  <a:srgbClr val="FFFFFF"/>
                </a:solidFill>
              </a:rPr>
              <a:t>Logistic</a:t>
            </a:r>
            <a:endParaRPr lang="en-US" sz="1150" dirty="0"/>
          </a:p>
          <a:p>
            <a:pPr algn="ctr" indent="0" marL="0">
              <a:buNone/>
            </a:pPr>
            <a:r>
              <a:rPr lang="en-US" sz="1150" b="1" dirty="0">
                <a:solidFill>
                  <a:srgbClr val="FFFFFF"/>
                </a:solidFill>
              </a:rPr>
              <a:t>Regression</a:t>
            </a:r>
            <a:endParaRPr lang="en-US" sz="1150" dirty="0"/>
          </a:p>
        </p:txBody>
      </p:sp>
      <p:sp>
        <p:nvSpPr>
          <p:cNvPr id="16" name="Text 14"/>
          <p:cNvSpPr/>
          <p:nvPr/>
        </p:nvSpPr>
        <p:spPr>
          <a:xfrm>
            <a:off x="2130552" y="1719072"/>
            <a:ext cx="1572768" cy="914400"/>
          </a:xfrm>
          <a:prstGeom prst="rect">
            <a:avLst/>
          </a:prstGeom>
          <a:noFill/>
          <a:ln/>
        </p:spPr>
        <p:txBody>
          <a:bodyPr wrap="square" lIns="101600" tIns="101600" rIns="101600" bIns="101600" rtlCol="0" anchor="t"/>
          <a:lstStyle/>
          <a:p>
            <a:pPr algn="ctr" indent="0" marL="0">
              <a:buNone/>
            </a:pPr>
            <a:r>
              <a:rPr lang="en-US" sz="1000" dirty="0">
                <a:solidFill>
                  <a:srgbClr val="0B2545"/>
                </a:solidFill>
              </a:rPr>
              <a:t>Fast, interpretable</a:t>
            </a:r>
            <a:endParaRPr lang="en-US" sz="1000" dirty="0"/>
          </a:p>
          <a:p>
            <a:pPr algn="ctr" indent="0" marL="0">
              <a:buNone/>
            </a:pPr>
            <a:r>
              <a:rPr lang="en-US" sz="1000" dirty="0">
                <a:solidFill>
                  <a:srgbClr val="0B2545"/>
                </a:solidFill>
              </a:rPr>
              <a:t>class_weight=</a:t>
            </a:r>
            <a:endParaRPr lang="en-US" sz="1000" dirty="0"/>
          </a:p>
          <a:p>
            <a:pPr algn="ctr" indent="0" marL="0">
              <a:buNone/>
            </a:pPr>
            <a:r>
              <a:rPr lang="en-US" sz="1000" dirty="0">
                <a:solidFill>
                  <a:srgbClr val="0B2545"/>
                </a:solidFill>
              </a:rPr>
              <a:t>'balanced'</a:t>
            </a:r>
            <a:endParaRPr lang="en-US" sz="1000" dirty="0"/>
          </a:p>
        </p:txBody>
      </p:sp>
      <p:sp>
        <p:nvSpPr>
          <p:cNvPr id="17" name="Shape 15"/>
          <p:cNvSpPr/>
          <p:nvPr/>
        </p:nvSpPr>
        <p:spPr>
          <a:xfrm>
            <a:off x="3849624" y="1005840"/>
            <a:ext cx="1572768" cy="3474720"/>
          </a:xfrm>
          <a:prstGeom prst="roundRect">
            <a:avLst>
              <a:gd name="adj" fmla="val 4651"/>
            </a:avLst>
          </a:prstGeom>
          <a:solidFill>
            <a:srgbClr val="FFFFFF"/>
          </a:solidFill>
          <a:ln/>
          <a:effectLst>
            <a:outerShdw sx="100000" sy="100000" kx="0" ky="0" algn="bl" rotWithShape="0" blurRad="101600" dist="38100" dir="2700000">
              <a:srgbClr val="000000">
                <a:alpha val="12000"/>
              </a:srgbClr>
            </a:outerShdw>
          </a:effectLst>
        </p:spPr>
      </p:sp>
      <p:sp>
        <p:nvSpPr>
          <p:cNvPr id="18" name="Shape 16"/>
          <p:cNvSpPr/>
          <p:nvPr/>
        </p:nvSpPr>
        <p:spPr>
          <a:xfrm>
            <a:off x="3849624" y="1005840"/>
            <a:ext cx="1572768" cy="502920"/>
          </a:xfrm>
          <a:prstGeom prst="rect">
            <a:avLst/>
          </a:prstGeom>
          <a:solidFill>
            <a:srgbClr val="065A82"/>
          </a:solidFill>
          <a:ln/>
        </p:spPr>
      </p:sp>
      <p:sp>
        <p:nvSpPr>
          <p:cNvPr id="19" name="Shape 17"/>
          <p:cNvSpPr/>
          <p:nvPr/>
        </p:nvSpPr>
        <p:spPr>
          <a:xfrm>
            <a:off x="3849624" y="1005840"/>
            <a:ext cx="1572768" cy="502920"/>
          </a:xfrm>
          <a:prstGeom prst="roundRect">
            <a:avLst>
              <a:gd name="adj" fmla="val 14545"/>
            </a:avLst>
          </a:prstGeom>
          <a:solidFill>
            <a:srgbClr val="065A82"/>
          </a:solidFill>
          <a:ln/>
        </p:spPr>
      </p:sp>
      <p:sp>
        <p:nvSpPr>
          <p:cNvPr id="20" name="Text 18"/>
          <p:cNvSpPr/>
          <p:nvPr/>
        </p:nvSpPr>
        <p:spPr>
          <a:xfrm>
            <a:off x="3849624" y="1060704"/>
            <a:ext cx="1572768" cy="201168"/>
          </a:xfrm>
          <a:prstGeom prst="rect">
            <a:avLst/>
          </a:prstGeom>
          <a:noFill/>
          <a:ln/>
        </p:spPr>
        <p:txBody>
          <a:bodyPr wrap="square" lIns="0" tIns="0" rIns="0" bIns="0" rtlCol="0" anchor="ctr"/>
          <a:lstStyle/>
          <a:p>
            <a:pPr algn="ctr" indent="0" marL="0">
              <a:buNone/>
            </a:pPr>
            <a:r>
              <a:rPr lang="en-US" sz="850" b="1" dirty="0">
                <a:solidFill>
                  <a:srgbClr val="FFFFFF"/>
                </a:solidFill>
              </a:rPr>
              <a:t>ENSEMBLE</a:t>
            </a:r>
            <a:endParaRPr lang="en-US" sz="850" dirty="0"/>
          </a:p>
        </p:txBody>
      </p:sp>
      <p:sp>
        <p:nvSpPr>
          <p:cNvPr id="21" name="Text 19"/>
          <p:cNvSpPr/>
          <p:nvPr/>
        </p:nvSpPr>
        <p:spPr>
          <a:xfrm>
            <a:off x="3849624" y="1261872"/>
            <a:ext cx="1572768" cy="384048"/>
          </a:xfrm>
          <a:prstGeom prst="rect">
            <a:avLst/>
          </a:prstGeom>
          <a:noFill/>
          <a:ln/>
        </p:spPr>
        <p:txBody>
          <a:bodyPr wrap="square" lIns="0" tIns="0" rIns="0" bIns="0" rtlCol="0" anchor="t"/>
          <a:lstStyle/>
          <a:p>
            <a:pPr algn="ctr" indent="0" marL="0">
              <a:buNone/>
            </a:pPr>
            <a:r>
              <a:rPr lang="en-US" sz="1150" b="1" dirty="0">
                <a:solidFill>
                  <a:srgbClr val="FFFFFF"/>
                </a:solidFill>
              </a:rPr>
              <a:t>Random</a:t>
            </a:r>
            <a:endParaRPr lang="en-US" sz="1150" dirty="0"/>
          </a:p>
          <a:p>
            <a:pPr algn="ctr" indent="0" marL="0">
              <a:buNone/>
            </a:pPr>
            <a:r>
              <a:rPr lang="en-US" sz="1150" b="1" dirty="0">
                <a:solidFill>
                  <a:srgbClr val="FFFFFF"/>
                </a:solidFill>
              </a:rPr>
              <a:t>Forest</a:t>
            </a:r>
            <a:endParaRPr lang="en-US" sz="1150" dirty="0"/>
          </a:p>
        </p:txBody>
      </p:sp>
      <p:sp>
        <p:nvSpPr>
          <p:cNvPr id="22" name="Text 20"/>
          <p:cNvSpPr/>
          <p:nvPr/>
        </p:nvSpPr>
        <p:spPr>
          <a:xfrm>
            <a:off x="3849624" y="1719072"/>
            <a:ext cx="1572768" cy="914400"/>
          </a:xfrm>
          <a:prstGeom prst="rect">
            <a:avLst/>
          </a:prstGeom>
          <a:noFill/>
          <a:ln/>
        </p:spPr>
        <p:txBody>
          <a:bodyPr wrap="square" lIns="101600" tIns="101600" rIns="101600" bIns="101600" rtlCol="0" anchor="t"/>
          <a:lstStyle/>
          <a:p>
            <a:pPr algn="ctr" indent="0" marL="0">
              <a:buNone/>
            </a:pPr>
            <a:r>
              <a:rPr lang="en-US" sz="1000" dirty="0">
                <a:solidFill>
                  <a:srgbClr val="0B2545"/>
                </a:solidFill>
              </a:rPr>
              <a:t>100 trees</a:t>
            </a:r>
            <a:endParaRPr lang="en-US" sz="1000" dirty="0"/>
          </a:p>
          <a:p>
            <a:pPr algn="ctr" indent="0" marL="0">
              <a:buNone/>
            </a:pPr>
            <a:r>
              <a:rPr lang="en-US" sz="1000" dirty="0">
                <a:solidFill>
                  <a:srgbClr val="0B2545"/>
                </a:solidFill>
              </a:rPr>
              <a:t>class_weight=</a:t>
            </a:r>
            <a:endParaRPr lang="en-US" sz="1000" dirty="0"/>
          </a:p>
          <a:p>
            <a:pPr algn="ctr" indent="0" marL="0">
              <a:buNone/>
            </a:pPr>
            <a:r>
              <a:rPr lang="en-US" sz="1000" dirty="0">
                <a:solidFill>
                  <a:srgbClr val="0B2545"/>
                </a:solidFill>
              </a:rPr>
              <a:t>'balanced'</a:t>
            </a:r>
            <a:endParaRPr lang="en-US" sz="1000" dirty="0"/>
          </a:p>
        </p:txBody>
      </p:sp>
      <p:sp>
        <p:nvSpPr>
          <p:cNvPr id="23" name="Shape 21"/>
          <p:cNvSpPr/>
          <p:nvPr/>
        </p:nvSpPr>
        <p:spPr>
          <a:xfrm>
            <a:off x="5568696" y="1005840"/>
            <a:ext cx="1572768" cy="3474720"/>
          </a:xfrm>
          <a:prstGeom prst="roundRect">
            <a:avLst>
              <a:gd name="adj" fmla="val 4651"/>
            </a:avLst>
          </a:prstGeom>
          <a:solidFill>
            <a:srgbClr val="FFFFFF"/>
          </a:solidFill>
          <a:ln/>
          <a:effectLst>
            <a:outerShdw sx="100000" sy="100000" kx="0" ky="0" algn="bl" rotWithShape="0" blurRad="101600" dist="38100" dir="2700000">
              <a:srgbClr val="000000">
                <a:alpha val="12000"/>
              </a:srgbClr>
            </a:outerShdw>
          </a:effectLst>
        </p:spPr>
      </p:sp>
      <p:sp>
        <p:nvSpPr>
          <p:cNvPr id="24" name="Shape 22"/>
          <p:cNvSpPr/>
          <p:nvPr/>
        </p:nvSpPr>
        <p:spPr>
          <a:xfrm>
            <a:off x="5568696" y="1005840"/>
            <a:ext cx="1572768" cy="502920"/>
          </a:xfrm>
          <a:prstGeom prst="rect">
            <a:avLst/>
          </a:prstGeom>
          <a:solidFill>
            <a:srgbClr val="7C3AED"/>
          </a:solidFill>
          <a:ln/>
        </p:spPr>
      </p:sp>
      <p:sp>
        <p:nvSpPr>
          <p:cNvPr id="25" name="Shape 23"/>
          <p:cNvSpPr/>
          <p:nvPr/>
        </p:nvSpPr>
        <p:spPr>
          <a:xfrm>
            <a:off x="5568696" y="1005840"/>
            <a:ext cx="1572768" cy="502920"/>
          </a:xfrm>
          <a:prstGeom prst="roundRect">
            <a:avLst>
              <a:gd name="adj" fmla="val 14545"/>
            </a:avLst>
          </a:prstGeom>
          <a:solidFill>
            <a:srgbClr val="7C3AED"/>
          </a:solidFill>
          <a:ln/>
        </p:spPr>
      </p:sp>
      <p:sp>
        <p:nvSpPr>
          <p:cNvPr id="26" name="Text 24"/>
          <p:cNvSpPr/>
          <p:nvPr/>
        </p:nvSpPr>
        <p:spPr>
          <a:xfrm>
            <a:off x="5568696" y="1060704"/>
            <a:ext cx="1572768" cy="201168"/>
          </a:xfrm>
          <a:prstGeom prst="rect">
            <a:avLst/>
          </a:prstGeom>
          <a:noFill/>
          <a:ln/>
        </p:spPr>
        <p:txBody>
          <a:bodyPr wrap="square" lIns="0" tIns="0" rIns="0" bIns="0" rtlCol="0" anchor="ctr"/>
          <a:lstStyle/>
          <a:p>
            <a:pPr algn="ctr" indent="0" marL="0">
              <a:buNone/>
            </a:pPr>
            <a:r>
              <a:rPr lang="en-US" sz="850" b="1" dirty="0">
                <a:solidFill>
                  <a:srgbClr val="FFFFFF"/>
                </a:solidFill>
              </a:rPr>
              <a:t>BOOSTING</a:t>
            </a:r>
            <a:endParaRPr lang="en-US" sz="850" dirty="0"/>
          </a:p>
        </p:txBody>
      </p:sp>
      <p:sp>
        <p:nvSpPr>
          <p:cNvPr id="27" name="Text 25"/>
          <p:cNvSpPr/>
          <p:nvPr/>
        </p:nvSpPr>
        <p:spPr>
          <a:xfrm>
            <a:off x="5568696" y="1261872"/>
            <a:ext cx="1572768" cy="384048"/>
          </a:xfrm>
          <a:prstGeom prst="rect">
            <a:avLst/>
          </a:prstGeom>
          <a:noFill/>
          <a:ln/>
        </p:spPr>
        <p:txBody>
          <a:bodyPr wrap="square" lIns="0" tIns="0" rIns="0" bIns="0" rtlCol="0" anchor="t"/>
          <a:lstStyle/>
          <a:p>
            <a:pPr algn="ctr" indent="0" marL="0">
              <a:buNone/>
            </a:pPr>
            <a:r>
              <a:rPr lang="en-US" sz="1150" b="1" dirty="0">
                <a:solidFill>
                  <a:srgbClr val="FFFFFF"/>
                </a:solidFill>
              </a:rPr>
              <a:t>XGBoost</a:t>
            </a:r>
            <a:endParaRPr lang="en-US" sz="1150" dirty="0"/>
          </a:p>
        </p:txBody>
      </p:sp>
      <p:sp>
        <p:nvSpPr>
          <p:cNvPr id="28" name="Text 26"/>
          <p:cNvSpPr/>
          <p:nvPr/>
        </p:nvSpPr>
        <p:spPr>
          <a:xfrm>
            <a:off x="5568696" y="1719072"/>
            <a:ext cx="1572768" cy="914400"/>
          </a:xfrm>
          <a:prstGeom prst="rect">
            <a:avLst/>
          </a:prstGeom>
          <a:noFill/>
          <a:ln/>
        </p:spPr>
        <p:txBody>
          <a:bodyPr wrap="square" lIns="101600" tIns="101600" rIns="101600" bIns="101600" rtlCol="0" anchor="t"/>
          <a:lstStyle/>
          <a:p>
            <a:pPr algn="ctr" indent="0" marL="0">
              <a:buNone/>
            </a:pPr>
            <a:r>
              <a:rPr lang="en-US" sz="1000" dirty="0">
                <a:solidFill>
                  <a:srgbClr val="0B2545"/>
                </a:solidFill>
              </a:rPr>
              <a:t>Gradient boosting</a:t>
            </a:r>
            <a:endParaRPr lang="en-US" sz="1000" dirty="0"/>
          </a:p>
          <a:p>
            <a:pPr algn="ctr" indent="0" marL="0">
              <a:buNone/>
            </a:pPr>
            <a:r>
              <a:rPr lang="en-US" sz="1000" dirty="0">
                <a:solidFill>
                  <a:srgbClr val="0B2545"/>
                </a:solidFill>
              </a:rPr>
              <a:t>scale_pos_weight</a:t>
            </a:r>
            <a:endParaRPr lang="en-US" sz="1000" dirty="0"/>
          </a:p>
          <a:p>
            <a:pPr algn="ctr" indent="0" marL="0">
              <a:buNone/>
            </a:pPr>
            <a:r>
              <a:rPr lang="en-US" sz="1000" dirty="0">
                <a:solidFill>
                  <a:srgbClr val="0B2545"/>
                </a:solidFill>
              </a:rPr>
              <a:t>= 578</a:t>
            </a:r>
            <a:endParaRPr lang="en-US" sz="1000" dirty="0"/>
          </a:p>
        </p:txBody>
      </p:sp>
      <p:sp>
        <p:nvSpPr>
          <p:cNvPr id="29" name="Shape 27"/>
          <p:cNvSpPr/>
          <p:nvPr/>
        </p:nvSpPr>
        <p:spPr>
          <a:xfrm>
            <a:off x="7287768" y="1005840"/>
            <a:ext cx="1572768" cy="3474720"/>
          </a:xfrm>
          <a:prstGeom prst="roundRect">
            <a:avLst>
              <a:gd name="adj" fmla="val 4651"/>
            </a:avLst>
          </a:prstGeom>
          <a:solidFill>
            <a:srgbClr val="FFFFFF"/>
          </a:solidFill>
          <a:ln/>
          <a:effectLst>
            <a:outerShdw sx="100000" sy="100000" kx="0" ky="0" algn="bl" rotWithShape="0" blurRad="101600" dist="38100" dir="2700000">
              <a:srgbClr val="000000">
                <a:alpha val="12000"/>
              </a:srgbClr>
            </a:outerShdw>
          </a:effectLst>
        </p:spPr>
      </p:sp>
      <p:sp>
        <p:nvSpPr>
          <p:cNvPr id="30" name="Shape 28"/>
          <p:cNvSpPr/>
          <p:nvPr/>
        </p:nvSpPr>
        <p:spPr>
          <a:xfrm>
            <a:off x="7287768" y="1005840"/>
            <a:ext cx="1572768" cy="502920"/>
          </a:xfrm>
          <a:prstGeom prst="rect">
            <a:avLst/>
          </a:prstGeom>
          <a:solidFill>
            <a:srgbClr val="0F766E"/>
          </a:solidFill>
          <a:ln/>
        </p:spPr>
      </p:sp>
      <p:sp>
        <p:nvSpPr>
          <p:cNvPr id="31" name="Shape 29"/>
          <p:cNvSpPr/>
          <p:nvPr/>
        </p:nvSpPr>
        <p:spPr>
          <a:xfrm>
            <a:off x="7287768" y="1005840"/>
            <a:ext cx="1572768" cy="502920"/>
          </a:xfrm>
          <a:prstGeom prst="roundRect">
            <a:avLst>
              <a:gd name="adj" fmla="val 14545"/>
            </a:avLst>
          </a:prstGeom>
          <a:solidFill>
            <a:srgbClr val="0F766E"/>
          </a:solidFill>
          <a:ln/>
        </p:spPr>
      </p:sp>
      <p:sp>
        <p:nvSpPr>
          <p:cNvPr id="32" name="Text 30"/>
          <p:cNvSpPr/>
          <p:nvPr/>
        </p:nvSpPr>
        <p:spPr>
          <a:xfrm>
            <a:off x="7287768" y="1060704"/>
            <a:ext cx="1572768" cy="201168"/>
          </a:xfrm>
          <a:prstGeom prst="rect">
            <a:avLst/>
          </a:prstGeom>
          <a:noFill/>
          <a:ln/>
        </p:spPr>
        <p:txBody>
          <a:bodyPr wrap="square" lIns="0" tIns="0" rIns="0" bIns="0" rtlCol="0" anchor="ctr"/>
          <a:lstStyle/>
          <a:p>
            <a:pPr algn="ctr" indent="0" marL="0">
              <a:buNone/>
            </a:pPr>
            <a:r>
              <a:rPr lang="en-US" sz="850" b="1" dirty="0">
                <a:solidFill>
                  <a:srgbClr val="FFFFFF"/>
                </a:solidFill>
              </a:rPr>
              <a:t>DEEP LEARN</a:t>
            </a:r>
            <a:endParaRPr lang="en-US" sz="850" dirty="0"/>
          </a:p>
        </p:txBody>
      </p:sp>
      <p:sp>
        <p:nvSpPr>
          <p:cNvPr id="33" name="Text 31"/>
          <p:cNvSpPr/>
          <p:nvPr/>
        </p:nvSpPr>
        <p:spPr>
          <a:xfrm>
            <a:off x="7287768" y="1261872"/>
            <a:ext cx="1572768" cy="384048"/>
          </a:xfrm>
          <a:prstGeom prst="rect">
            <a:avLst/>
          </a:prstGeom>
          <a:noFill/>
          <a:ln/>
        </p:spPr>
        <p:txBody>
          <a:bodyPr wrap="square" lIns="0" tIns="0" rIns="0" bIns="0" rtlCol="0" anchor="t"/>
          <a:lstStyle/>
          <a:p>
            <a:pPr algn="ctr" indent="0" marL="0">
              <a:buNone/>
            </a:pPr>
            <a:r>
              <a:rPr lang="en-US" sz="1150" b="1" dirty="0">
                <a:solidFill>
                  <a:srgbClr val="FFFFFF"/>
                </a:solidFill>
              </a:rPr>
              <a:t>Neural</a:t>
            </a:r>
            <a:endParaRPr lang="en-US" sz="1150" dirty="0"/>
          </a:p>
          <a:p>
            <a:pPr algn="ctr" indent="0" marL="0">
              <a:buNone/>
            </a:pPr>
            <a:r>
              <a:rPr lang="en-US" sz="1150" b="1" dirty="0">
                <a:solidFill>
                  <a:srgbClr val="FFFFFF"/>
                </a:solidFill>
              </a:rPr>
              <a:t>Network</a:t>
            </a:r>
            <a:endParaRPr lang="en-US" sz="1150" dirty="0"/>
          </a:p>
        </p:txBody>
      </p:sp>
      <p:sp>
        <p:nvSpPr>
          <p:cNvPr id="34" name="Text 32"/>
          <p:cNvSpPr/>
          <p:nvPr/>
        </p:nvSpPr>
        <p:spPr>
          <a:xfrm>
            <a:off x="7287768" y="1719072"/>
            <a:ext cx="1572768" cy="914400"/>
          </a:xfrm>
          <a:prstGeom prst="rect">
            <a:avLst/>
          </a:prstGeom>
          <a:noFill/>
          <a:ln/>
        </p:spPr>
        <p:txBody>
          <a:bodyPr wrap="square" lIns="101600" tIns="101600" rIns="101600" bIns="101600" rtlCol="0" anchor="t"/>
          <a:lstStyle/>
          <a:p>
            <a:pPr algn="ctr" indent="0" marL="0">
              <a:buNone/>
            </a:pPr>
            <a:r>
              <a:rPr lang="en-US" sz="1000" dirty="0">
                <a:solidFill>
                  <a:srgbClr val="0B2545"/>
                </a:solidFill>
              </a:rPr>
              <a:t>MLP 64→32→1</a:t>
            </a:r>
            <a:endParaRPr lang="en-US" sz="1000" dirty="0"/>
          </a:p>
          <a:p>
            <a:pPr algn="ctr" indent="0" marL="0">
              <a:buNone/>
            </a:pPr>
            <a:r>
              <a:rPr lang="en-US" sz="1000" dirty="0">
                <a:solidFill>
                  <a:srgbClr val="0B2545"/>
                </a:solidFill>
              </a:rPr>
              <a:t>Early stopping</a:t>
            </a:r>
            <a:endParaRPr lang="en-US" sz="1000" dirty="0"/>
          </a:p>
          <a:p>
            <a:pPr algn="ctr" indent="0" marL="0">
              <a:buNone/>
            </a:pPr>
            <a:r>
              <a:rPr lang="en-US" sz="1000" dirty="0">
                <a:solidFill>
                  <a:srgbClr val="0B2545"/>
                </a:solidFill>
              </a:rPr>
              <a:t>validation=10%</a:t>
            </a:r>
            <a:endParaRPr lang="en-US" sz="1000" dirty="0"/>
          </a:p>
        </p:txBody>
      </p:sp>
      <p:sp>
        <p:nvSpPr>
          <p:cNvPr id="35" name="Shape 33"/>
          <p:cNvSpPr/>
          <p:nvPr/>
        </p:nvSpPr>
        <p:spPr>
          <a:xfrm>
            <a:off x="411480" y="4663440"/>
            <a:ext cx="8321040" cy="347472"/>
          </a:xfrm>
          <a:prstGeom prst="roundRect">
            <a:avLst>
              <a:gd name="adj" fmla="val 21053"/>
            </a:avLst>
          </a:prstGeom>
          <a:solidFill>
            <a:srgbClr val="EBF5FF"/>
          </a:solidFill>
          <a:ln/>
          <a:effectLst>
            <a:outerShdw sx="100000" sy="100000" kx="0" ky="0" algn="bl" rotWithShape="0" blurRad="101600" dist="38100" dir="2700000">
              <a:srgbClr val="000000">
                <a:alpha val="12000"/>
              </a:srgbClr>
            </a:outerShdw>
          </a:effectLst>
        </p:spPr>
      </p:sp>
      <p:sp>
        <p:nvSpPr>
          <p:cNvPr id="36" name="Text 34"/>
          <p:cNvSpPr/>
          <p:nvPr/>
        </p:nvSpPr>
        <p:spPr>
          <a:xfrm>
            <a:off x="594360" y="4690872"/>
            <a:ext cx="7955280" cy="292608"/>
          </a:xfrm>
          <a:prstGeom prst="rect">
            <a:avLst/>
          </a:prstGeom>
          <a:noFill/>
          <a:ln/>
        </p:spPr>
        <p:txBody>
          <a:bodyPr wrap="square" lIns="0" tIns="0" rIns="0" bIns="0" rtlCol="0" anchor="ctr"/>
          <a:lstStyle/>
          <a:p>
            <a:pPr indent="0" marL="0">
              <a:buNone/>
            </a:pPr>
            <a:r>
              <a:rPr lang="en-US" sz="1100" i="1" dirty="0">
                <a:solidFill>
                  <a:srgbClr val="065A82"/>
                </a:solidFill>
              </a:rPr>
              <a:t>+ Hyperparameter tuning applied to Random Forest via RandomizedSearchCV (20 iterations, 3-fold CV, scoring=F1)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RESULTS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Cross-Validation F1 Scores (5-Fold)</a:t>
            </a:r>
            <a:endParaRPr lang="en-US" sz="2800" dirty="0"/>
          </a:p>
        </p:txBody>
      </p:sp>
      <p:graphicFrame>
        <p:nvGraphicFramePr>
          <p:cNvPr id="5" name="Chart 0" descr=""/>
          <p:cNvGraphicFramePr/>
          <p:nvPr/>
        </p:nvGraphicFramePr>
        <p:xfrm>
          <a:off x="411480" y="960120"/>
          <a:ext cx="566928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263640" y="960120"/>
            <a:ext cx="2468880" cy="3977640"/>
          </a:xfrm>
          <a:prstGeom prst="roundRect">
            <a:avLst>
              <a:gd name="adj" fmla="val 2963"/>
            </a:avLst>
          </a:prstGeom>
          <a:solidFill>
            <a:srgbClr val="FFFFFF"/>
          </a:solidFill>
          <a:ln/>
          <a:effectLst>
            <a:outerShdw sx="100000" sy="100000" kx="0" ky="0" algn="bl" rotWithShape="0" blurRad="101600" dist="38100" dir="2700000">
              <a:srgbClr val="000000">
                <a:alpha val="12000"/>
              </a:srgbClr>
            </a:outerShdw>
          </a:effectLst>
        </p:spPr>
      </p:sp>
      <p:sp>
        <p:nvSpPr>
          <p:cNvPr id="7" name="Text 4"/>
          <p:cNvSpPr/>
          <p:nvPr/>
        </p:nvSpPr>
        <p:spPr>
          <a:xfrm>
            <a:off x="6446520" y="1078992"/>
            <a:ext cx="2103120" cy="320040"/>
          </a:xfrm>
          <a:prstGeom prst="rect">
            <a:avLst/>
          </a:prstGeom>
          <a:noFill/>
          <a:ln/>
        </p:spPr>
        <p:txBody>
          <a:bodyPr wrap="square" lIns="0" tIns="0" rIns="0" bIns="0" rtlCol="0" anchor="ctr"/>
          <a:lstStyle/>
          <a:p>
            <a:pPr indent="0" marL="0">
              <a:buNone/>
            </a:pPr>
            <a:r>
              <a:rPr lang="en-US" sz="1300" b="1" dirty="0">
                <a:solidFill>
                  <a:srgbClr val="0B2545"/>
                </a:solidFill>
              </a:rPr>
              <a:t>Observations</a:t>
            </a:r>
            <a:endParaRPr lang="en-US" sz="1300" dirty="0"/>
          </a:p>
        </p:txBody>
      </p:sp>
      <p:sp>
        <p:nvSpPr>
          <p:cNvPr id="8" name="Text 5"/>
          <p:cNvSpPr/>
          <p:nvPr/>
        </p:nvSpPr>
        <p:spPr>
          <a:xfrm>
            <a:off x="6446520" y="1463040"/>
            <a:ext cx="2103120" cy="3200400"/>
          </a:xfrm>
          <a:prstGeom prst="rect">
            <a:avLst/>
          </a:prstGeom>
          <a:noFill/>
          <a:ln/>
        </p:spPr>
        <p:txBody>
          <a:bodyPr wrap="square" rtlCol="0" anchor="ctr"/>
          <a:lstStyle/>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Tuned RF leads at 0.87</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XGBoost close at 0.86</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MLP competitive at 0.81</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LR solid at 0.72</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Dummy = 0.00 (never detects fraud)</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CV run on training set only — test set untouched</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Scores are mean over 5 folds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RESULTS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Test Set Performance — All Models</a:t>
            </a:r>
            <a:endParaRPr lang="en-US" sz="2800" dirty="0"/>
          </a:p>
        </p:txBody>
      </p:sp>
      <p:graphicFrame>
        <p:nvGraphicFramePr>
          <p:cNvPr id="5" name="Chart 0" descr=""/>
          <p:cNvGraphicFramePr/>
          <p:nvPr/>
        </p:nvGraphicFramePr>
        <p:xfrm>
          <a:off x="411480" y="960120"/>
          <a:ext cx="8321040" cy="3977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RESULTS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Test Set Metrics — Summary Table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2834640"/>
                <a:gridCol w="1371600"/>
                <a:gridCol w="1371600"/>
                <a:gridCol w="1371600"/>
                <a:gridCol w="1371600"/>
              </a:tblGrid>
              <a:tr h="475488">
                <a:tc>
                  <a:txBody>
                    <a:bodyPr/>
                    <a:lstStyle/>
                    <a:p>
                      <a:pPr algn="ctr" indent="0" marL="0">
                        <a:buNone/>
                      </a:pPr>
                      <a:r>
                        <a:rPr lang="en-US" sz="1200" b="1" dirty="0">
                          <a:solidFill>
                            <a:srgbClr val="FFFFFF"/>
                          </a:solidFill>
                        </a:rPr>
                        <a:t>Model</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rPr>
                        <a:t>Precision</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rPr>
                        <a:t>Recall</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rPr>
                        <a:t>F1-Score</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rPr>
                        <a:t>ROC-AUC</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065A82"/>
                    </a:solidFill>
                  </a:tcPr>
                </a:tc>
              </a:tr>
              <a:tr h="475488">
                <a:tc>
                  <a:txBody>
                    <a:bodyPr/>
                    <a:lstStyle/>
                    <a:p>
                      <a:pPr algn="l" indent="0" marL="0">
                        <a:buNone/>
                      </a:pPr>
                      <a:r>
                        <a:rPr lang="en-US" sz="1200" dirty="0">
                          <a:solidFill>
                            <a:srgbClr val="374151"/>
                          </a:solidFill>
                        </a:rPr>
                        <a:t>Dummy</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0.000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0.000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0.000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~0.500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r>
              <a:tr h="475488">
                <a:tc>
                  <a:txBody>
                    <a:bodyPr/>
                    <a:lstStyle/>
                    <a:p>
                      <a:pPr algn="l" indent="0" marL="0">
                        <a:buNone/>
                      </a:pPr>
                      <a:r>
                        <a:rPr lang="en-US" sz="1200" dirty="0">
                          <a:solidFill>
                            <a:srgbClr val="374151"/>
                          </a:solidFill>
                        </a:rPr>
                        <a:t>Logistic Regression</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~0.870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~0.620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~0.720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~0.970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r>
              <a:tr h="475488">
                <a:tc>
                  <a:txBody>
                    <a:bodyPr/>
                    <a:lstStyle/>
                    <a:p>
                      <a:pPr algn="l" indent="0" marL="0">
                        <a:buNone/>
                      </a:pPr>
                      <a:r>
                        <a:rPr lang="en-US" sz="1200" dirty="0">
                          <a:solidFill>
                            <a:srgbClr val="374151"/>
                          </a:solidFill>
                        </a:rPr>
                        <a:t>Random Forest</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~0.920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~0.800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~0.860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~0.980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r>
              <a:tr h="475488">
                <a:tc>
                  <a:txBody>
                    <a:bodyPr/>
                    <a:lstStyle/>
                    <a:p>
                      <a:pPr algn="l" indent="0" marL="0">
                        <a:buNone/>
                      </a:pPr>
                      <a:r>
                        <a:rPr lang="en-US" sz="1200" dirty="0">
                          <a:solidFill>
                            <a:srgbClr val="374151"/>
                          </a:solidFill>
                        </a:rPr>
                        <a:t>XGBoost</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~0.930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~0.820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~0.870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c>
                  <a:txBody>
                    <a:bodyPr/>
                    <a:lstStyle/>
                    <a:p>
                      <a:pPr algn="ctr" indent="0" marL="0">
                        <a:buNone/>
                      </a:pPr>
                      <a:r>
                        <a:rPr lang="en-US" sz="1200" dirty="0">
                          <a:solidFill>
                            <a:srgbClr val="374151"/>
                          </a:solidFill>
                        </a:rPr>
                        <a:t>~0.980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0F7FF"/>
                    </a:solidFill>
                  </a:tcPr>
                </a:tc>
              </a:tr>
              <a:tr h="475488">
                <a:tc>
                  <a:txBody>
                    <a:bodyPr/>
                    <a:lstStyle/>
                    <a:p>
                      <a:pPr algn="l" indent="0" marL="0">
                        <a:buNone/>
                      </a:pPr>
                      <a:r>
                        <a:rPr lang="en-US" sz="1200" dirty="0">
                          <a:solidFill>
                            <a:srgbClr val="374151"/>
                          </a:solidFill>
                        </a:rPr>
                        <a:t>Neural Network (MLP)</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~0.880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~0.750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~0.810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200" dirty="0">
                          <a:solidFill>
                            <a:srgbClr val="374151"/>
                          </a:solidFill>
                        </a:rPr>
                        <a:t>~0.970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r>
              <a:tr h="475488">
                <a:tc>
                  <a:txBody>
                    <a:bodyPr/>
                    <a:lstStyle/>
                    <a:p>
                      <a:pPr algn="l" indent="0" marL="0">
                        <a:buNone/>
                      </a:pPr>
                      <a:r>
                        <a:rPr lang="en-US" sz="1200" b="1" dirty="0">
                          <a:solidFill>
                            <a:srgbClr val="0B2545"/>
                          </a:solidFill>
                        </a:rPr>
                        <a:t>RF Tuned ★ Best</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algn="ctr" indent="0" marL="0">
                        <a:buNone/>
                      </a:pPr>
                      <a:r>
                        <a:rPr lang="en-US" sz="1200" b="1" dirty="0">
                          <a:solidFill>
                            <a:srgbClr val="0B2545"/>
                          </a:solidFill>
                        </a:rPr>
                        <a:t>~0.930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algn="ctr" indent="0" marL="0">
                        <a:buNone/>
                      </a:pPr>
                      <a:r>
                        <a:rPr lang="en-US" sz="1200" b="1" dirty="0">
                          <a:solidFill>
                            <a:srgbClr val="0B2545"/>
                          </a:solidFill>
                        </a:rPr>
                        <a:t>~0.830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algn="ctr" indent="0" marL="0">
                        <a:buNone/>
                      </a:pPr>
                      <a:r>
                        <a:rPr lang="en-US" sz="1200" b="1" dirty="0">
                          <a:solidFill>
                            <a:srgbClr val="0B2545"/>
                          </a:solidFill>
                        </a:rPr>
                        <a:t>~0.880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c>
                  <a:txBody>
                    <a:bodyPr/>
                    <a:lstStyle/>
                    <a:p>
                      <a:pPr algn="ctr" indent="0" marL="0">
                        <a:buNone/>
                      </a:pPr>
                      <a:r>
                        <a:rPr lang="en-US" sz="1200" b="1" dirty="0">
                          <a:solidFill>
                            <a:srgbClr val="0B2545"/>
                          </a:solidFill>
                        </a:rPr>
                        <a:t>~0.980</a:t>
                      </a:r>
                      <a:endParaRPr lang="en-US" sz="12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0EAF5"/>
                    </a:solidFill>
                  </a:tcPr>
                </a:tc>
              </a:tr>
            </a:tbl>
          </a:graphicData>
        </a:graphic>
      </p:graphicFrame>
      <p:sp>
        <p:nvSpPr>
          <p:cNvPr id="6" name="Text 3"/>
          <p:cNvSpPr/>
          <p:nvPr/>
        </p:nvSpPr>
        <p:spPr>
          <a:xfrm>
            <a:off x="411480" y="4407408"/>
            <a:ext cx="8321040" cy="411480"/>
          </a:xfrm>
          <a:prstGeom prst="rect">
            <a:avLst/>
          </a:prstGeom>
          <a:noFill/>
          <a:ln/>
        </p:spPr>
        <p:txBody>
          <a:bodyPr wrap="square" rtlCol="0" anchor="ctr"/>
          <a:lstStyle/>
          <a:p>
            <a:pPr indent="0" marL="0">
              <a:buNone/>
            </a:pPr>
            <a:r>
              <a:rPr lang="en-US" sz="1000" i="1" dirty="0">
                <a:solidFill>
                  <a:srgbClr val="64748B"/>
                </a:solidFill>
              </a:rPr>
              <a:t>Evaluation on 85,443 held-out test rows (never seen during training or hyperparameter tuning). Metrics reported on the fraud class (positive class).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VISUALIZATIONS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Key Visualizations Generated</a:t>
            </a:r>
            <a:endParaRPr lang="en-US" sz="2800" dirty="0"/>
          </a:p>
        </p:txBody>
      </p:sp>
      <p:sp>
        <p:nvSpPr>
          <p:cNvPr id="5" name="Shape 3"/>
          <p:cNvSpPr/>
          <p:nvPr/>
        </p:nvSpPr>
        <p:spPr>
          <a:xfrm>
            <a:off x="411480" y="960120"/>
            <a:ext cx="2633472" cy="1700784"/>
          </a:xfrm>
          <a:prstGeom prst="roundRect">
            <a:avLst>
              <a:gd name="adj" fmla="val 4301"/>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411480" y="960120"/>
            <a:ext cx="2633472" cy="384048"/>
          </a:xfrm>
          <a:prstGeom prst="roundRect">
            <a:avLst>
              <a:gd name="adj" fmla="val 19048"/>
            </a:avLst>
          </a:prstGeom>
          <a:solidFill>
            <a:srgbClr val="065A82"/>
          </a:solidFill>
          <a:ln/>
        </p:spPr>
      </p:sp>
      <p:sp>
        <p:nvSpPr>
          <p:cNvPr id="7" name="Text 5"/>
          <p:cNvSpPr/>
          <p:nvPr/>
        </p:nvSpPr>
        <p:spPr>
          <a:xfrm>
            <a:off x="502920" y="1014984"/>
            <a:ext cx="2468880" cy="292608"/>
          </a:xfrm>
          <a:prstGeom prst="rect">
            <a:avLst/>
          </a:prstGeom>
          <a:noFill/>
          <a:ln/>
        </p:spPr>
        <p:txBody>
          <a:bodyPr wrap="square" lIns="0" tIns="0" rIns="0" bIns="0" rtlCol="0" anchor="ctr"/>
          <a:lstStyle/>
          <a:p>
            <a:pPr indent="0" marL="0">
              <a:buNone/>
            </a:pPr>
            <a:r>
              <a:rPr lang="en-US" sz="1050" b="1" dirty="0">
                <a:solidFill>
                  <a:srgbClr val="FFFFFF"/>
                </a:solidFill>
              </a:rPr>
              <a:t>1. Class Distribution</a:t>
            </a:r>
            <a:endParaRPr lang="en-US" sz="1050" dirty="0"/>
          </a:p>
        </p:txBody>
      </p:sp>
      <p:sp>
        <p:nvSpPr>
          <p:cNvPr id="8" name="Text 6"/>
          <p:cNvSpPr/>
          <p:nvPr/>
        </p:nvSpPr>
        <p:spPr>
          <a:xfrm>
            <a:off x="521208" y="1463040"/>
            <a:ext cx="2423160" cy="1078992"/>
          </a:xfrm>
          <a:prstGeom prst="rect">
            <a:avLst/>
          </a:prstGeom>
          <a:noFill/>
          <a:ln/>
        </p:spPr>
        <p:txBody>
          <a:bodyPr wrap="square" lIns="0" tIns="0" rIns="0" bIns="0" rtlCol="0" anchor="ctr"/>
          <a:lstStyle/>
          <a:p>
            <a:pPr indent="0" marL="0">
              <a:buNone/>
            </a:pPr>
            <a:r>
              <a:rPr lang="en-US" sz="1100" dirty="0">
                <a:solidFill>
                  <a:srgbClr val="374151"/>
                </a:solidFill>
              </a:rPr>
              <a:t>Log-scale bar chart shows</a:t>
            </a:r>
            <a:endParaRPr lang="en-US" sz="1100" dirty="0"/>
          </a:p>
          <a:p>
            <a:pPr indent="0" marL="0">
              <a:buNone/>
            </a:pPr>
            <a:r>
              <a:rPr lang="en-US" sz="1100" dirty="0">
                <a:solidFill>
                  <a:srgbClr val="374151"/>
                </a:solidFill>
              </a:rPr>
              <a:t>99.83% vs 0.17% split</a:t>
            </a:r>
            <a:endParaRPr lang="en-US" sz="1100" dirty="0"/>
          </a:p>
        </p:txBody>
      </p:sp>
      <p:sp>
        <p:nvSpPr>
          <p:cNvPr id="9" name="Shape 7"/>
          <p:cNvSpPr/>
          <p:nvPr/>
        </p:nvSpPr>
        <p:spPr>
          <a:xfrm>
            <a:off x="3264408" y="960120"/>
            <a:ext cx="2633472" cy="1700784"/>
          </a:xfrm>
          <a:prstGeom prst="roundRect">
            <a:avLst>
              <a:gd name="adj" fmla="val 4301"/>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3264408" y="960120"/>
            <a:ext cx="2633472" cy="384048"/>
          </a:xfrm>
          <a:prstGeom prst="roundRect">
            <a:avLst>
              <a:gd name="adj" fmla="val 19048"/>
            </a:avLst>
          </a:prstGeom>
          <a:solidFill>
            <a:srgbClr val="065A82"/>
          </a:solidFill>
          <a:ln/>
        </p:spPr>
      </p:sp>
      <p:sp>
        <p:nvSpPr>
          <p:cNvPr id="11" name="Text 9"/>
          <p:cNvSpPr/>
          <p:nvPr/>
        </p:nvSpPr>
        <p:spPr>
          <a:xfrm>
            <a:off x="3355848" y="1014984"/>
            <a:ext cx="2468880" cy="292608"/>
          </a:xfrm>
          <a:prstGeom prst="rect">
            <a:avLst/>
          </a:prstGeom>
          <a:noFill/>
          <a:ln/>
        </p:spPr>
        <p:txBody>
          <a:bodyPr wrap="square" lIns="0" tIns="0" rIns="0" bIns="0" rtlCol="0" anchor="ctr"/>
          <a:lstStyle/>
          <a:p>
            <a:pPr indent="0" marL="0">
              <a:buNone/>
            </a:pPr>
            <a:r>
              <a:rPr lang="en-US" sz="1050" b="1" dirty="0">
                <a:solidFill>
                  <a:srgbClr val="FFFFFF"/>
                </a:solidFill>
              </a:rPr>
              <a:t>2. Amount Distribution</a:t>
            </a:r>
            <a:endParaRPr lang="en-US" sz="1050" dirty="0"/>
          </a:p>
        </p:txBody>
      </p:sp>
      <p:sp>
        <p:nvSpPr>
          <p:cNvPr id="12" name="Text 10"/>
          <p:cNvSpPr/>
          <p:nvPr/>
        </p:nvSpPr>
        <p:spPr>
          <a:xfrm>
            <a:off x="3374136" y="1463040"/>
            <a:ext cx="2423160" cy="1078992"/>
          </a:xfrm>
          <a:prstGeom prst="rect">
            <a:avLst/>
          </a:prstGeom>
          <a:noFill/>
          <a:ln/>
        </p:spPr>
        <p:txBody>
          <a:bodyPr wrap="square" lIns="0" tIns="0" rIns="0" bIns="0" rtlCol="0" anchor="ctr"/>
          <a:lstStyle/>
          <a:p>
            <a:pPr indent="0" marL="0">
              <a:buNone/>
            </a:pPr>
            <a:r>
              <a:rPr lang="en-US" sz="1100" dirty="0">
                <a:solidFill>
                  <a:srgbClr val="374151"/>
                </a:solidFill>
              </a:rPr>
              <a:t>Fraud vs normal transaction</a:t>
            </a:r>
            <a:endParaRPr lang="en-US" sz="1100" dirty="0"/>
          </a:p>
          <a:p>
            <a:pPr indent="0" marL="0">
              <a:buNone/>
            </a:pPr>
            <a:r>
              <a:rPr lang="en-US" sz="1100" dirty="0">
                <a:solidFill>
                  <a:srgbClr val="374151"/>
                </a:solidFill>
              </a:rPr>
              <a:t>amounts (fraud &lt; $500)</a:t>
            </a:r>
            <a:endParaRPr lang="en-US" sz="1100" dirty="0"/>
          </a:p>
        </p:txBody>
      </p:sp>
      <p:sp>
        <p:nvSpPr>
          <p:cNvPr id="13" name="Shape 11"/>
          <p:cNvSpPr/>
          <p:nvPr/>
        </p:nvSpPr>
        <p:spPr>
          <a:xfrm>
            <a:off x="6108192" y="960120"/>
            <a:ext cx="2633472" cy="1700784"/>
          </a:xfrm>
          <a:prstGeom prst="roundRect">
            <a:avLst>
              <a:gd name="adj" fmla="val 4301"/>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6108192" y="960120"/>
            <a:ext cx="2633472" cy="384048"/>
          </a:xfrm>
          <a:prstGeom prst="roundRect">
            <a:avLst>
              <a:gd name="adj" fmla="val 19048"/>
            </a:avLst>
          </a:prstGeom>
          <a:solidFill>
            <a:srgbClr val="065A82"/>
          </a:solidFill>
          <a:ln/>
        </p:spPr>
      </p:sp>
      <p:sp>
        <p:nvSpPr>
          <p:cNvPr id="15" name="Text 13"/>
          <p:cNvSpPr/>
          <p:nvPr/>
        </p:nvSpPr>
        <p:spPr>
          <a:xfrm>
            <a:off x="6199632" y="1014984"/>
            <a:ext cx="2468880" cy="292608"/>
          </a:xfrm>
          <a:prstGeom prst="rect">
            <a:avLst/>
          </a:prstGeom>
          <a:noFill/>
          <a:ln/>
        </p:spPr>
        <p:txBody>
          <a:bodyPr wrap="square" lIns="0" tIns="0" rIns="0" bIns="0" rtlCol="0" anchor="ctr"/>
          <a:lstStyle/>
          <a:p>
            <a:pPr indent="0" marL="0">
              <a:buNone/>
            </a:pPr>
            <a:r>
              <a:rPr lang="en-US" sz="1050" b="1" dirty="0">
                <a:solidFill>
                  <a:srgbClr val="FFFFFF"/>
                </a:solidFill>
              </a:rPr>
              <a:t>3. Correlation Heatmap</a:t>
            </a:r>
            <a:endParaRPr lang="en-US" sz="1050" dirty="0"/>
          </a:p>
        </p:txBody>
      </p:sp>
      <p:sp>
        <p:nvSpPr>
          <p:cNvPr id="16" name="Text 14"/>
          <p:cNvSpPr/>
          <p:nvPr/>
        </p:nvSpPr>
        <p:spPr>
          <a:xfrm>
            <a:off x="6217920" y="1463040"/>
            <a:ext cx="2423160" cy="1078992"/>
          </a:xfrm>
          <a:prstGeom prst="rect">
            <a:avLst/>
          </a:prstGeom>
          <a:noFill/>
          <a:ln/>
        </p:spPr>
        <p:txBody>
          <a:bodyPr wrap="square" lIns="0" tIns="0" rIns="0" bIns="0" rtlCol="0" anchor="ctr"/>
          <a:lstStyle/>
          <a:p>
            <a:pPr indent="0" marL="0">
              <a:buNone/>
            </a:pPr>
            <a:r>
              <a:rPr lang="en-US" sz="1100" dirty="0">
                <a:solidFill>
                  <a:srgbClr val="374151"/>
                </a:solidFill>
              </a:rPr>
              <a:t>V-features uncorrelated</a:t>
            </a:r>
            <a:endParaRPr lang="en-US" sz="1100" dirty="0"/>
          </a:p>
          <a:p>
            <a:pPr indent="0" marL="0">
              <a:buNone/>
            </a:pPr>
            <a:r>
              <a:rPr lang="en-US" sz="1100" dirty="0">
                <a:solidFill>
                  <a:srgbClr val="374151"/>
                </a:solidFill>
              </a:rPr>
              <a:t>(by PCA design)</a:t>
            </a:r>
            <a:endParaRPr lang="en-US" sz="1100" dirty="0"/>
          </a:p>
        </p:txBody>
      </p:sp>
      <p:sp>
        <p:nvSpPr>
          <p:cNvPr id="17" name="Shape 15"/>
          <p:cNvSpPr/>
          <p:nvPr/>
        </p:nvSpPr>
        <p:spPr>
          <a:xfrm>
            <a:off x="411480" y="2880360"/>
            <a:ext cx="2633472" cy="1700784"/>
          </a:xfrm>
          <a:prstGeom prst="roundRect">
            <a:avLst>
              <a:gd name="adj" fmla="val 4301"/>
            </a:avLst>
          </a:prstGeom>
          <a:solidFill>
            <a:srgbClr val="FFFFFF"/>
          </a:solidFill>
          <a:ln/>
          <a:effectLst>
            <a:outerShdw sx="100000" sy="100000" kx="0" ky="0" algn="bl" rotWithShape="0" blurRad="101600" dist="38100" dir="2700000">
              <a:srgbClr val="000000">
                <a:alpha val="12000"/>
              </a:srgbClr>
            </a:outerShdw>
          </a:effectLst>
        </p:spPr>
      </p:sp>
      <p:sp>
        <p:nvSpPr>
          <p:cNvPr id="18" name="Shape 16"/>
          <p:cNvSpPr/>
          <p:nvPr/>
        </p:nvSpPr>
        <p:spPr>
          <a:xfrm>
            <a:off x="411480" y="2880360"/>
            <a:ext cx="2633472" cy="384048"/>
          </a:xfrm>
          <a:prstGeom prst="roundRect">
            <a:avLst>
              <a:gd name="adj" fmla="val 19048"/>
            </a:avLst>
          </a:prstGeom>
          <a:solidFill>
            <a:srgbClr val="065A82"/>
          </a:solidFill>
          <a:ln/>
        </p:spPr>
      </p:sp>
      <p:sp>
        <p:nvSpPr>
          <p:cNvPr id="19" name="Text 17"/>
          <p:cNvSpPr/>
          <p:nvPr/>
        </p:nvSpPr>
        <p:spPr>
          <a:xfrm>
            <a:off x="502920" y="2935224"/>
            <a:ext cx="2468880" cy="292608"/>
          </a:xfrm>
          <a:prstGeom prst="rect">
            <a:avLst/>
          </a:prstGeom>
          <a:noFill/>
          <a:ln/>
        </p:spPr>
        <p:txBody>
          <a:bodyPr wrap="square" lIns="0" tIns="0" rIns="0" bIns="0" rtlCol="0" anchor="ctr"/>
          <a:lstStyle/>
          <a:p>
            <a:pPr indent="0" marL="0">
              <a:buNone/>
            </a:pPr>
            <a:r>
              <a:rPr lang="en-US" sz="1050" b="1" dirty="0">
                <a:solidFill>
                  <a:srgbClr val="FFFFFF"/>
                </a:solidFill>
              </a:rPr>
              <a:t>4. ROC Curves</a:t>
            </a:r>
            <a:endParaRPr lang="en-US" sz="1050" dirty="0"/>
          </a:p>
        </p:txBody>
      </p:sp>
      <p:sp>
        <p:nvSpPr>
          <p:cNvPr id="20" name="Text 18"/>
          <p:cNvSpPr/>
          <p:nvPr/>
        </p:nvSpPr>
        <p:spPr>
          <a:xfrm>
            <a:off x="521208" y="3383280"/>
            <a:ext cx="2423160" cy="1078992"/>
          </a:xfrm>
          <a:prstGeom prst="rect">
            <a:avLst/>
          </a:prstGeom>
          <a:noFill/>
          <a:ln/>
        </p:spPr>
        <p:txBody>
          <a:bodyPr wrap="square" lIns="0" tIns="0" rIns="0" bIns="0" rtlCol="0" anchor="ctr"/>
          <a:lstStyle/>
          <a:p>
            <a:pPr indent="0" marL="0">
              <a:buNone/>
            </a:pPr>
            <a:r>
              <a:rPr lang="en-US" sz="1100" dirty="0">
                <a:solidFill>
                  <a:srgbClr val="374151"/>
                </a:solidFill>
              </a:rPr>
              <a:t>All 5 models — RF/XGBoost</a:t>
            </a:r>
            <a:endParaRPr lang="en-US" sz="1100" dirty="0"/>
          </a:p>
          <a:p>
            <a:pPr indent="0" marL="0">
              <a:buNone/>
            </a:pPr>
            <a:r>
              <a:rPr lang="en-US" sz="1100" dirty="0">
                <a:solidFill>
                  <a:srgbClr val="374151"/>
                </a:solidFill>
              </a:rPr>
              <a:t>AUC &gt; 0.98</a:t>
            </a:r>
            <a:endParaRPr lang="en-US" sz="1100" dirty="0"/>
          </a:p>
        </p:txBody>
      </p:sp>
      <p:sp>
        <p:nvSpPr>
          <p:cNvPr id="21" name="Shape 19"/>
          <p:cNvSpPr/>
          <p:nvPr/>
        </p:nvSpPr>
        <p:spPr>
          <a:xfrm>
            <a:off x="3264408" y="2880360"/>
            <a:ext cx="2633472" cy="1700784"/>
          </a:xfrm>
          <a:prstGeom prst="roundRect">
            <a:avLst>
              <a:gd name="adj" fmla="val 4301"/>
            </a:avLst>
          </a:prstGeom>
          <a:solidFill>
            <a:srgbClr val="FFFFFF"/>
          </a:solidFill>
          <a:ln/>
          <a:effectLst>
            <a:outerShdw sx="100000" sy="100000" kx="0" ky="0" algn="bl" rotWithShape="0" blurRad="101600" dist="38100" dir="2700000">
              <a:srgbClr val="000000">
                <a:alpha val="12000"/>
              </a:srgbClr>
            </a:outerShdw>
          </a:effectLst>
        </p:spPr>
      </p:sp>
      <p:sp>
        <p:nvSpPr>
          <p:cNvPr id="22" name="Shape 20"/>
          <p:cNvSpPr/>
          <p:nvPr/>
        </p:nvSpPr>
        <p:spPr>
          <a:xfrm>
            <a:off x="3264408" y="2880360"/>
            <a:ext cx="2633472" cy="384048"/>
          </a:xfrm>
          <a:prstGeom prst="roundRect">
            <a:avLst>
              <a:gd name="adj" fmla="val 19048"/>
            </a:avLst>
          </a:prstGeom>
          <a:solidFill>
            <a:srgbClr val="065A82"/>
          </a:solidFill>
          <a:ln/>
        </p:spPr>
      </p:sp>
      <p:sp>
        <p:nvSpPr>
          <p:cNvPr id="23" name="Text 21"/>
          <p:cNvSpPr/>
          <p:nvPr/>
        </p:nvSpPr>
        <p:spPr>
          <a:xfrm>
            <a:off x="3355848" y="2935224"/>
            <a:ext cx="2468880" cy="292608"/>
          </a:xfrm>
          <a:prstGeom prst="rect">
            <a:avLst/>
          </a:prstGeom>
          <a:noFill/>
          <a:ln/>
        </p:spPr>
        <p:txBody>
          <a:bodyPr wrap="square" lIns="0" tIns="0" rIns="0" bIns="0" rtlCol="0" anchor="ctr"/>
          <a:lstStyle/>
          <a:p>
            <a:pPr indent="0" marL="0">
              <a:buNone/>
            </a:pPr>
            <a:r>
              <a:rPr lang="en-US" sz="1050" b="1" dirty="0">
                <a:solidFill>
                  <a:srgbClr val="FFFFFF"/>
                </a:solidFill>
              </a:rPr>
              <a:t>5. Model Comparison Bar</a:t>
            </a:r>
            <a:endParaRPr lang="en-US" sz="1050" dirty="0"/>
          </a:p>
        </p:txBody>
      </p:sp>
      <p:sp>
        <p:nvSpPr>
          <p:cNvPr id="24" name="Text 22"/>
          <p:cNvSpPr/>
          <p:nvPr/>
        </p:nvSpPr>
        <p:spPr>
          <a:xfrm>
            <a:off x="3374136" y="3383280"/>
            <a:ext cx="2423160" cy="1078992"/>
          </a:xfrm>
          <a:prstGeom prst="rect">
            <a:avLst/>
          </a:prstGeom>
          <a:noFill/>
          <a:ln/>
        </p:spPr>
        <p:txBody>
          <a:bodyPr wrap="square" lIns="0" tIns="0" rIns="0" bIns="0" rtlCol="0" anchor="ctr"/>
          <a:lstStyle/>
          <a:p>
            <a:pPr indent="0" marL="0">
              <a:buNone/>
            </a:pPr>
            <a:r>
              <a:rPr lang="en-US" sz="1100" dirty="0">
                <a:solidFill>
                  <a:srgbClr val="374151"/>
                </a:solidFill>
              </a:rPr>
              <a:t>Precision/Recall/F1</a:t>
            </a:r>
            <a:endParaRPr lang="en-US" sz="1100" dirty="0"/>
          </a:p>
          <a:p>
            <a:pPr indent="0" marL="0">
              <a:buNone/>
            </a:pPr>
            <a:r>
              <a:rPr lang="en-US" sz="1100" dirty="0">
                <a:solidFill>
                  <a:srgbClr val="374151"/>
                </a:solidFill>
              </a:rPr>
              <a:t>side-by-side</a:t>
            </a:r>
            <a:endParaRPr lang="en-US" sz="1100" dirty="0"/>
          </a:p>
        </p:txBody>
      </p:sp>
      <p:sp>
        <p:nvSpPr>
          <p:cNvPr id="25" name="Shape 23"/>
          <p:cNvSpPr/>
          <p:nvPr/>
        </p:nvSpPr>
        <p:spPr>
          <a:xfrm>
            <a:off x="6108192" y="2880360"/>
            <a:ext cx="2633472" cy="1700784"/>
          </a:xfrm>
          <a:prstGeom prst="roundRect">
            <a:avLst>
              <a:gd name="adj" fmla="val 4301"/>
            </a:avLst>
          </a:prstGeom>
          <a:solidFill>
            <a:srgbClr val="FFFFFF"/>
          </a:solidFill>
          <a:ln/>
          <a:effectLst>
            <a:outerShdw sx="100000" sy="100000" kx="0" ky="0" algn="bl" rotWithShape="0" blurRad="101600" dist="38100" dir="2700000">
              <a:srgbClr val="000000">
                <a:alpha val="12000"/>
              </a:srgbClr>
            </a:outerShdw>
          </a:effectLst>
        </p:spPr>
      </p:sp>
      <p:sp>
        <p:nvSpPr>
          <p:cNvPr id="26" name="Shape 24"/>
          <p:cNvSpPr/>
          <p:nvPr/>
        </p:nvSpPr>
        <p:spPr>
          <a:xfrm>
            <a:off x="6108192" y="2880360"/>
            <a:ext cx="2633472" cy="384048"/>
          </a:xfrm>
          <a:prstGeom prst="roundRect">
            <a:avLst>
              <a:gd name="adj" fmla="val 19048"/>
            </a:avLst>
          </a:prstGeom>
          <a:solidFill>
            <a:srgbClr val="065A82"/>
          </a:solidFill>
          <a:ln/>
        </p:spPr>
      </p:sp>
      <p:sp>
        <p:nvSpPr>
          <p:cNvPr id="27" name="Text 25"/>
          <p:cNvSpPr/>
          <p:nvPr/>
        </p:nvSpPr>
        <p:spPr>
          <a:xfrm>
            <a:off x="6199632" y="2935224"/>
            <a:ext cx="2468880" cy="292608"/>
          </a:xfrm>
          <a:prstGeom prst="rect">
            <a:avLst/>
          </a:prstGeom>
          <a:noFill/>
          <a:ln/>
        </p:spPr>
        <p:txBody>
          <a:bodyPr wrap="square" lIns="0" tIns="0" rIns="0" bIns="0" rtlCol="0" anchor="ctr"/>
          <a:lstStyle/>
          <a:p>
            <a:pPr indent="0" marL="0">
              <a:buNone/>
            </a:pPr>
            <a:r>
              <a:rPr lang="en-US" sz="1050" b="1" dirty="0">
                <a:solidFill>
                  <a:srgbClr val="FFFFFF"/>
                </a:solidFill>
              </a:rPr>
              <a:t>6. Feature Importance</a:t>
            </a:r>
            <a:endParaRPr lang="en-US" sz="1050" dirty="0"/>
          </a:p>
        </p:txBody>
      </p:sp>
      <p:sp>
        <p:nvSpPr>
          <p:cNvPr id="28" name="Text 26"/>
          <p:cNvSpPr/>
          <p:nvPr/>
        </p:nvSpPr>
        <p:spPr>
          <a:xfrm>
            <a:off x="6217920" y="3383280"/>
            <a:ext cx="2423160" cy="1078992"/>
          </a:xfrm>
          <a:prstGeom prst="rect">
            <a:avLst/>
          </a:prstGeom>
          <a:noFill/>
          <a:ln/>
        </p:spPr>
        <p:txBody>
          <a:bodyPr wrap="square" lIns="0" tIns="0" rIns="0" bIns="0" rtlCol="0" anchor="ctr"/>
          <a:lstStyle/>
          <a:p>
            <a:pPr indent="0" marL="0">
              <a:buNone/>
            </a:pPr>
            <a:r>
              <a:rPr lang="en-US" sz="1100" dirty="0">
                <a:solidFill>
                  <a:srgbClr val="374151"/>
                </a:solidFill>
              </a:rPr>
              <a:t>V17, V14, V12 dominate;</a:t>
            </a:r>
            <a:endParaRPr lang="en-US" sz="1100" dirty="0"/>
          </a:p>
          <a:p>
            <a:pPr indent="0" marL="0">
              <a:buNone/>
            </a:pPr>
            <a:r>
              <a:rPr lang="en-US" sz="1100" dirty="0">
                <a:solidFill>
                  <a:srgbClr val="374151"/>
                </a:solidFill>
              </a:rPr>
              <a:t>Amount/Time rank low</a:t>
            </a:r>
            <a:endParaRPr lang="en-US" sz="1100" dirty="0"/>
          </a:p>
        </p:txBody>
      </p:sp>
      <p:sp>
        <p:nvSpPr>
          <p:cNvPr id="29" name="Text 27"/>
          <p:cNvSpPr/>
          <p:nvPr/>
        </p:nvSpPr>
        <p:spPr>
          <a:xfrm>
            <a:off x="411480" y="4645152"/>
            <a:ext cx="8321040" cy="320040"/>
          </a:xfrm>
          <a:prstGeom prst="rect">
            <a:avLst/>
          </a:prstGeom>
          <a:noFill/>
          <a:ln/>
        </p:spPr>
        <p:txBody>
          <a:bodyPr wrap="square" rtlCol="0" anchor="ctr"/>
          <a:lstStyle/>
          <a:p>
            <a:pPr algn="ctr" indent="0" marL="0">
              <a:buNone/>
            </a:pPr>
            <a:r>
              <a:rPr lang="en-US" sz="1000" i="1" dirty="0">
                <a:solidFill>
                  <a:srgbClr val="1C7293"/>
                </a:solidFill>
              </a:rPr>
              <a:t>+ t-SNE projection (slide 12)   + Confusion matrices per model   + MLP training loss curve   =  8 figures total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VISUALIZATIONS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t-SNE Projection &amp; Confusion Matrix</a:t>
            </a:r>
            <a:endParaRPr lang="en-US" sz="2800" dirty="0"/>
          </a:p>
        </p:txBody>
      </p:sp>
      <p:sp>
        <p:nvSpPr>
          <p:cNvPr id="5" name="Shape 3"/>
          <p:cNvSpPr/>
          <p:nvPr/>
        </p:nvSpPr>
        <p:spPr>
          <a:xfrm>
            <a:off x="411480" y="960120"/>
            <a:ext cx="4114800" cy="3977640"/>
          </a:xfrm>
          <a:prstGeom prst="roundRect">
            <a:avLst>
              <a:gd name="adj" fmla="val 1839"/>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078992"/>
            <a:ext cx="3749040" cy="347472"/>
          </a:xfrm>
          <a:prstGeom prst="rect">
            <a:avLst/>
          </a:prstGeom>
          <a:noFill/>
          <a:ln/>
        </p:spPr>
        <p:txBody>
          <a:bodyPr wrap="square" lIns="0" tIns="0" rIns="0" bIns="0" rtlCol="0" anchor="ctr"/>
          <a:lstStyle/>
          <a:p>
            <a:pPr indent="0" marL="0">
              <a:buNone/>
            </a:pPr>
            <a:r>
              <a:rPr lang="en-US" sz="1300" b="1" dirty="0">
                <a:solidFill>
                  <a:srgbClr val="0B2545"/>
                </a:solidFill>
              </a:rPr>
              <a:t>t-SNE 2D Projection</a:t>
            </a:r>
            <a:endParaRPr lang="en-US" sz="1300" dirty="0"/>
          </a:p>
        </p:txBody>
      </p:sp>
      <p:sp>
        <p:nvSpPr>
          <p:cNvPr id="7" name="Shape 5"/>
          <p:cNvSpPr/>
          <p:nvPr/>
        </p:nvSpPr>
        <p:spPr>
          <a:xfrm>
            <a:off x="914400" y="1645920"/>
            <a:ext cx="2377440" cy="1828800"/>
          </a:xfrm>
          <a:prstGeom prst="ellipse">
            <a:avLst/>
          </a:prstGeom>
          <a:solidFill>
            <a:srgbClr val="DBEAFE">
              <a:alpha val="70000"/>
            </a:srgbClr>
          </a:solidFill>
          <a:ln/>
        </p:spPr>
      </p:sp>
      <p:sp>
        <p:nvSpPr>
          <p:cNvPr id="8" name="Shape 6"/>
          <p:cNvSpPr/>
          <p:nvPr/>
        </p:nvSpPr>
        <p:spPr>
          <a:xfrm>
            <a:off x="1828800" y="2103120"/>
            <a:ext cx="1188720" cy="914400"/>
          </a:xfrm>
          <a:prstGeom prst="ellipse">
            <a:avLst/>
          </a:prstGeom>
          <a:solidFill>
            <a:srgbClr val="DC2626">
              <a:alpha val="50000"/>
            </a:srgbClr>
          </a:solidFill>
          <a:ln/>
        </p:spPr>
      </p:sp>
      <p:sp>
        <p:nvSpPr>
          <p:cNvPr id="9" name="Text 7"/>
          <p:cNvSpPr/>
          <p:nvPr/>
        </p:nvSpPr>
        <p:spPr>
          <a:xfrm>
            <a:off x="960120" y="1965960"/>
            <a:ext cx="1371600" cy="502920"/>
          </a:xfrm>
          <a:prstGeom prst="rect">
            <a:avLst/>
          </a:prstGeom>
          <a:noFill/>
          <a:ln/>
        </p:spPr>
        <p:txBody>
          <a:bodyPr wrap="square" lIns="0" tIns="0" rIns="0" bIns="0" rtlCol="0" anchor="ctr"/>
          <a:lstStyle/>
          <a:p>
            <a:pPr algn="ctr" indent="0" marL="0">
              <a:buNone/>
            </a:pPr>
            <a:r>
              <a:rPr lang="en-US" sz="900" dirty="0">
                <a:solidFill>
                  <a:srgbClr val="065A82"/>
                </a:solidFill>
              </a:rPr>
              <a:t>Normal</a:t>
            </a:r>
            <a:endParaRPr lang="en-US" sz="900" dirty="0"/>
          </a:p>
          <a:p>
            <a:pPr algn="ctr" indent="0" marL="0">
              <a:buNone/>
            </a:pPr>
            <a:r>
              <a:rPr lang="en-US" sz="900" dirty="0">
                <a:solidFill>
                  <a:srgbClr val="065A82"/>
                </a:solidFill>
              </a:rPr>
              <a:t>transactions</a:t>
            </a:r>
            <a:endParaRPr lang="en-US" sz="900" dirty="0"/>
          </a:p>
        </p:txBody>
      </p:sp>
      <p:sp>
        <p:nvSpPr>
          <p:cNvPr id="10" name="Text 8"/>
          <p:cNvSpPr/>
          <p:nvPr/>
        </p:nvSpPr>
        <p:spPr>
          <a:xfrm>
            <a:off x="2148840" y="2450592"/>
            <a:ext cx="914400" cy="411480"/>
          </a:xfrm>
          <a:prstGeom prst="rect">
            <a:avLst/>
          </a:prstGeom>
          <a:noFill/>
          <a:ln/>
        </p:spPr>
        <p:txBody>
          <a:bodyPr wrap="square" lIns="0" tIns="0" rIns="0" bIns="0" rtlCol="0" anchor="ctr"/>
          <a:lstStyle/>
          <a:p>
            <a:pPr algn="ctr" indent="0" marL="0">
              <a:buNone/>
            </a:pPr>
            <a:r>
              <a:rPr lang="en-US" sz="900" b="1" dirty="0">
                <a:solidFill>
                  <a:srgbClr val="DC2626"/>
                </a:solidFill>
              </a:rPr>
              <a:t>Fraud</a:t>
            </a:r>
            <a:endParaRPr lang="en-US" sz="900" dirty="0"/>
          </a:p>
          <a:p>
            <a:pPr algn="ctr" indent="0" marL="0">
              <a:buNone/>
            </a:pPr>
            <a:r>
              <a:rPr lang="en-US" sz="900" b="1" dirty="0">
                <a:solidFill>
                  <a:srgbClr val="DC2626"/>
                </a:solidFill>
              </a:rPr>
              <a:t>cases</a:t>
            </a:r>
            <a:endParaRPr lang="en-US" sz="900" dirty="0"/>
          </a:p>
        </p:txBody>
      </p:sp>
      <p:sp>
        <p:nvSpPr>
          <p:cNvPr id="11" name="Text 9"/>
          <p:cNvSpPr/>
          <p:nvPr/>
        </p:nvSpPr>
        <p:spPr>
          <a:xfrm>
            <a:off x="594360" y="3584448"/>
            <a:ext cx="3749040" cy="777240"/>
          </a:xfrm>
          <a:prstGeom prst="rect">
            <a:avLst/>
          </a:prstGeom>
          <a:noFill/>
          <a:ln/>
        </p:spPr>
        <p:txBody>
          <a:bodyPr wrap="square" lIns="0" tIns="0" rIns="0" bIns="0" rtlCol="0" anchor="t"/>
          <a:lstStyle/>
          <a:p>
            <a:pPr indent="0" marL="0">
              <a:buNone/>
            </a:pPr>
            <a:r>
              <a:rPr lang="en-US" sz="1000" dirty="0">
                <a:solidFill>
                  <a:srgbClr val="64748B"/>
                </a:solidFill>
              </a:rPr>
              <a:t>Fraud cases cluster separately from</a:t>
            </a:r>
            <a:endParaRPr lang="en-US" sz="1000" dirty="0"/>
          </a:p>
          <a:p>
            <a:pPr indent="0" marL="0">
              <a:buNone/>
            </a:pPr>
            <a:r>
              <a:rPr lang="en-US" sz="1000" dirty="0">
                <a:solidFill>
                  <a:srgbClr val="64748B"/>
                </a:solidFill>
              </a:rPr>
              <a:t>normal transactions in 2D space.</a:t>
            </a:r>
            <a:endParaRPr lang="en-US" sz="1000" dirty="0"/>
          </a:p>
          <a:p>
            <a:pPr indent="0" marL="0">
              <a:buNone/>
            </a:pPr>
            <a:r>
              <a:rPr lang="en-US" sz="1000" dirty="0">
                <a:solidFill>
                  <a:srgbClr val="64748B"/>
                </a:solidFill>
              </a:rPr>
              <a:t>Run on 5,000 sampled transactions.</a:t>
            </a:r>
            <a:endParaRPr lang="en-US" sz="1000" dirty="0"/>
          </a:p>
        </p:txBody>
      </p:sp>
      <p:sp>
        <p:nvSpPr>
          <p:cNvPr id="12" name="Shape 10"/>
          <p:cNvSpPr/>
          <p:nvPr/>
        </p:nvSpPr>
        <p:spPr>
          <a:xfrm>
            <a:off x="4709160" y="960120"/>
            <a:ext cx="4023360" cy="3977640"/>
          </a:xfrm>
          <a:prstGeom prst="roundRect">
            <a:avLst>
              <a:gd name="adj" fmla="val 183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4892040" y="1051560"/>
            <a:ext cx="3657600" cy="502920"/>
          </a:xfrm>
          <a:prstGeom prst="rect">
            <a:avLst/>
          </a:prstGeom>
          <a:noFill/>
          <a:ln/>
        </p:spPr>
        <p:txBody>
          <a:bodyPr wrap="square" lIns="0" tIns="0" rIns="0" bIns="0" rtlCol="0" anchor="ctr"/>
          <a:lstStyle/>
          <a:p>
            <a:pPr algn="ctr" indent="0" marL="0">
              <a:buNone/>
            </a:pPr>
            <a:r>
              <a:rPr lang="en-US" sz="1200" b="1" dirty="0">
                <a:solidFill>
                  <a:srgbClr val="0B2545"/>
                </a:solidFill>
              </a:rPr>
              <a:t>Best Model Confusion Matrix</a:t>
            </a:r>
            <a:endParaRPr lang="en-US" sz="1200" dirty="0"/>
          </a:p>
          <a:p>
            <a:pPr algn="ctr" indent="0" marL="0">
              <a:buNone/>
            </a:pPr>
            <a:r>
              <a:rPr lang="en-US" sz="1200" b="1" dirty="0">
                <a:solidFill>
                  <a:srgbClr val="0B2545"/>
                </a:solidFill>
              </a:rPr>
              <a:t>(RF Tuned on 85K test rows)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46320" y="1664208"/>
          <a:ext cx="3749040" cy="914400"/>
        </p:xfrm>
        <a:graphic>
          <a:graphicData uri="http://schemas.openxmlformats.org/drawingml/2006/table">
            <a:tbl>
              <a:tblPr/>
              <a:tblGrid>
                <a:gridCol w="1280160"/>
                <a:gridCol w="1234440"/>
                <a:gridCol w="1234440"/>
              </a:tblGrid>
              <a:tr h="685800">
                <a:tc>
                  <a:txBody>
                    <a:bodyPr/>
                    <a:lstStyle/>
                    <a:p>
                      <a:pPr algn="ctr" indent="0" marL="0">
                        <a:buNone/>
                      </a:pPr>
                      <a:endParaRPr lang="en-US" sz="10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tcPr>
                </a:tc>
                <a:tc>
                  <a:txBody>
                    <a:bodyPr/>
                    <a:lstStyle/>
                    <a:p>
                      <a:pPr algn="ctr" indent="0" marL="0">
                        <a:buNone/>
                      </a:pPr>
                      <a:r>
                        <a:rPr lang="en-US" sz="1100" b="1" dirty="0">
                          <a:solidFill>
                            <a:srgbClr val="065A82"/>
                          </a:solidFill>
                        </a:rPr>
                        <a:t>Pred: Normal</a:t>
                      </a:r>
                      <a:endParaRPr lang="en-US" sz="11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2FF"/>
                    </a:solidFill>
                  </a:tcPr>
                </a:tc>
                <a:tc>
                  <a:txBody>
                    <a:bodyPr/>
                    <a:lstStyle/>
                    <a:p>
                      <a:pPr algn="ctr" indent="0" marL="0">
                        <a:buNone/>
                      </a:pPr>
                      <a:r>
                        <a:rPr lang="en-US" sz="1100" b="1" dirty="0">
                          <a:solidFill>
                            <a:srgbClr val="DC2626"/>
                          </a:solidFill>
                        </a:rPr>
                        <a:t>Pred: Fraud</a:t>
                      </a:r>
                      <a:endParaRPr lang="en-US" sz="11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EF2F2"/>
                    </a:solidFill>
                  </a:tcPr>
                </a:tc>
              </a:tr>
              <a:tr h="685800">
                <a:tc>
                  <a:txBody>
                    <a:bodyPr/>
                    <a:lstStyle/>
                    <a:p>
                      <a:pPr algn="ctr" indent="0" marL="0">
                        <a:buNone/>
                      </a:pPr>
                      <a:r>
                        <a:rPr lang="en-US" sz="1100" b="1" dirty="0">
                          <a:solidFill>
                            <a:srgbClr val="065A82"/>
                          </a:solidFill>
                        </a:rPr>
                        <a:t>True: Normal</a:t>
                      </a:r>
                      <a:endParaRPr lang="en-US" sz="11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EEF2FF"/>
                    </a:solidFill>
                  </a:tcPr>
                </a:tc>
                <a:tc>
                  <a:txBody>
                    <a:bodyPr/>
                    <a:lstStyle/>
                    <a:p>
                      <a:pPr algn="ctr" indent="0" marL="0">
                        <a:buNone/>
                      </a:pPr>
                      <a:r>
                        <a:rPr lang="en-US" sz="1400" b="1" dirty="0">
                          <a:solidFill>
                            <a:srgbClr val="059669"/>
                          </a:solidFill>
                        </a:rPr>
                        <a:t>84,929</a:t>
                      </a:r>
                      <a:endParaRPr lang="en-US" sz="1400" dirty="0"/>
                    </a:p>
                    <a:p>
                      <a:pPr algn="ctr" indent="0" marL="0">
                        <a:buNone/>
                      </a:pPr>
                      <a:r>
                        <a:rPr lang="en-US" sz="1400" b="1" dirty="0">
                          <a:solidFill>
                            <a:srgbClr val="059669"/>
                          </a:solidFill>
                        </a:rPr>
                        <a:t>(TN)</a:t>
                      </a:r>
                      <a:endParaRPr lang="en-US" sz="14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1FAE5"/>
                    </a:solidFill>
                  </a:tcPr>
                </a:tc>
                <a:tc>
                  <a:txBody>
                    <a:bodyPr/>
                    <a:lstStyle/>
                    <a:p>
                      <a:pPr algn="ctr" indent="0" marL="0">
                        <a:buNone/>
                      </a:pPr>
                      <a:r>
                        <a:rPr lang="en-US" sz="1400" dirty="0">
                          <a:solidFill>
                            <a:srgbClr val="D97706"/>
                          </a:solidFill>
                        </a:rPr>
                        <a:t>~25</a:t>
                      </a:r>
                      <a:endParaRPr lang="en-US" sz="1400" dirty="0"/>
                    </a:p>
                    <a:p>
                      <a:pPr algn="ctr" indent="0" marL="0">
                        <a:buNone/>
                      </a:pPr>
                      <a:r>
                        <a:rPr lang="en-US" sz="1400" dirty="0">
                          <a:solidFill>
                            <a:srgbClr val="D97706"/>
                          </a:solidFill>
                        </a:rPr>
                        <a:t>(FP)</a:t>
                      </a:r>
                      <a:endParaRPr lang="en-US" sz="14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EE2E2"/>
                    </a:solidFill>
                  </a:tcPr>
                </a:tc>
              </a:tr>
              <a:tr h="685800">
                <a:tc>
                  <a:txBody>
                    <a:bodyPr/>
                    <a:lstStyle/>
                    <a:p>
                      <a:pPr algn="ctr" indent="0" marL="0">
                        <a:buNone/>
                      </a:pPr>
                      <a:r>
                        <a:rPr lang="en-US" sz="1100" b="1" dirty="0">
                          <a:solidFill>
                            <a:srgbClr val="DC2626"/>
                          </a:solidFill>
                        </a:rPr>
                        <a:t>True: Fraud</a:t>
                      </a:r>
                      <a:endParaRPr lang="en-US" sz="11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EF2F2"/>
                    </a:solidFill>
                  </a:tcPr>
                </a:tc>
                <a:tc>
                  <a:txBody>
                    <a:bodyPr/>
                    <a:lstStyle/>
                    <a:p>
                      <a:pPr algn="ctr" indent="0" marL="0">
                        <a:buNone/>
                      </a:pPr>
                      <a:r>
                        <a:rPr lang="en-US" sz="1400" dirty="0">
                          <a:solidFill>
                            <a:srgbClr val="DC2626"/>
                          </a:solidFill>
                        </a:rPr>
                        <a:t>~25</a:t>
                      </a:r>
                      <a:endParaRPr lang="en-US" sz="1400" dirty="0"/>
                    </a:p>
                    <a:p>
                      <a:pPr algn="ctr" indent="0" marL="0">
                        <a:buNone/>
                      </a:pPr>
                      <a:r>
                        <a:rPr lang="en-US" sz="1400" dirty="0">
                          <a:solidFill>
                            <a:srgbClr val="DC2626"/>
                          </a:solidFill>
                        </a:rPr>
                        <a:t>(FN)</a:t>
                      </a:r>
                      <a:endParaRPr lang="en-US" sz="14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FEE2E2"/>
                    </a:solidFill>
                  </a:tcPr>
                </a:tc>
                <a:tc>
                  <a:txBody>
                    <a:bodyPr/>
                    <a:lstStyle/>
                    <a:p>
                      <a:pPr algn="ctr" indent="0" marL="0">
                        <a:buNone/>
                      </a:pPr>
                      <a:r>
                        <a:rPr lang="en-US" sz="1400" b="1" dirty="0">
                          <a:solidFill>
                            <a:srgbClr val="059669"/>
                          </a:solidFill>
                        </a:rPr>
                        <a:t>~122</a:t>
                      </a:r>
                      <a:endParaRPr lang="en-US" sz="1400" dirty="0"/>
                    </a:p>
                    <a:p>
                      <a:pPr algn="ctr" indent="0" marL="0">
                        <a:buNone/>
                      </a:pPr>
                      <a:r>
                        <a:rPr lang="en-US" sz="1400" b="1" dirty="0">
                          <a:solidFill>
                            <a:srgbClr val="059669"/>
                          </a:solidFill>
                        </a:rPr>
                        <a:t>(TP)</a:t>
                      </a:r>
                      <a:endParaRPr lang="en-US" sz="1400" dirty="0"/>
                    </a:p>
                  </a:txBody>
                  <a:tcPr marL="91440" marR="91440" marT="45720" marB="45720">
                    <a:lnL w="6350" cap="flat" cmpd="sng" algn="ctr">
                      <a:solidFill>
                        <a:srgbClr val="DBEAFE"/>
                      </a:solidFill>
                      <a:prstDash val="solid"/>
                      <a:round/>
                      <a:headEnd type="none" w="med" len="med"/>
                      <a:tailEnd type="none" w="med" len="med"/>
                    </a:lnL>
                    <a:lnR w="6350" cap="flat" cmpd="sng" algn="ctr">
                      <a:solidFill>
                        <a:srgbClr val="DBEAFE"/>
                      </a:solidFill>
                      <a:prstDash val="solid"/>
                      <a:round/>
                      <a:headEnd type="none" w="med" len="med"/>
                      <a:tailEnd type="none" w="med" len="med"/>
                    </a:lnR>
                    <a:lnT w="6350" cap="flat" cmpd="sng" algn="ctr">
                      <a:solidFill>
                        <a:srgbClr val="DBEAFE"/>
                      </a:solidFill>
                      <a:prstDash val="solid"/>
                      <a:round/>
                      <a:headEnd type="none" w="med" len="med"/>
                      <a:tailEnd type="none" w="med" len="med"/>
                    </a:lnT>
                    <a:lnB w="6350" cap="flat" cmpd="sng" algn="ctr">
                      <a:solidFill>
                        <a:srgbClr val="DBEAFE"/>
                      </a:solidFill>
                      <a:prstDash val="solid"/>
                      <a:round/>
                      <a:headEnd type="none" w="med" len="med"/>
                      <a:tailEnd type="none" w="med" len="med"/>
                    </a:lnB>
                    <a:solidFill>
                      <a:srgbClr val="D1FAE5"/>
                    </a:solidFill>
                  </a:tcPr>
                </a:tc>
              </a:tr>
            </a:tbl>
          </a:graphicData>
        </a:graphic>
      </p:graphicFrame>
      <p:sp>
        <p:nvSpPr>
          <p:cNvPr id="15" name="Text 12"/>
          <p:cNvSpPr/>
          <p:nvPr/>
        </p:nvSpPr>
        <p:spPr>
          <a:xfrm>
            <a:off x="4892040" y="3840480"/>
            <a:ext cx="3657600" cy="640080"/>
          </a:xfrm>
          <a:prstGeom prst="rect">
            <a:avLst/>
          </a:prstGeom>
          <a:noFill/>
          <a:ln/>
        </p:spPr>
        <p:txBody>
          <a:bodyPr wrap="square" lIns="0" tIns="0" rIns="0" bIns="0" rtlCol="0" anchor="ctr"/>
          <a:lstStyle/>
          <a:p>
            <a:pPr algn="l" indent="0" marL="0">
              <a:buNone/>
            </a:pPr>
            <a:r>
              <a:rPr lang="en-US" sz="1000" dirty="0">
                <a:solidFill>
                  <a:srgbClr val="64748B"/>
                </a:solidFill>
              </a:rPr>
              <a:t>Recall ~83%: catches ~122 of ~147 fraud cases.</a:t>
            </a:r>
            <a:endParaRPr lang="en-US" sz="1000" dirty="0"/>
          </a:p>
          <a:p>
            <a:pPr algn="l" indent="0" marL="0">
              <a:buNone/>
            </a:pPr>
            <a:r>
              <a:rPr lang="en-US" sz="1000" dirty="0">
                <a:solidFill>
                  <a:srgbClr val="64748B"/>
                </a:solidFill>
              </a:rPr>
              <a:t>~25 missed (false negatives) — highest real-world cost.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ANALYSIS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Feature Importance — Random Forest</a:t>
            </a:r>
            <a:endParaRPr lang="en-US" sz="2800" dirty="0"/>
          </a:p>
        </p:txBody>
      </p:sp>
      <p:graphicFrame>
        <p:nvGraphicFramePr>
          <p:cNvPr id="5" name="Chart 0" descr=""/>
          <p:cNvGraphicFramePr/>
          <p:nvPr/>
        </p:nvGraphicFramePr>
        <p:xfrm>
          <a:off x="411480" y="960120"/>
          <a:ext cx="530352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97880" y="960120"/>
            <a:ext cx="2834640" cy="3977640"/>
          </a:xfrm>
          <a:prstGeom prst="roundRect">
            <a:avLst>
              <a:gd name="adj" fmla="val 2581"/>
            </a:avLst>
          </a:prstGeom>
          <a:solidFill>
            <a:srgbClr val="FFFFFF"/>
          </a:solidFill>
          <a:ln/>
          <a:effectLst>
            <a:outerShdw sx="100000" sy="100000" kx="0" ky="0" algn="bl" rotWithShape="0" blurRad="101600" dist="38100" dir="2700000">
              <a:srgbClr val="000000">
                <a:alpha val="12000"/>
              </a:srgbClr>
            </a:outerShdw>
          </a:effectLst>
        </p:spPr>
      </p:sp>
      <p:sp>
        <p:nvSpPr>
          <p:cNvPr id="7" name="Text 4"/>
          <p:cNvSpPr/>
          <p:nvPr/>
        </p:nvSpPr>
        <p:spPr>
          <a:xfrm>
            <a:off x="6080760" y="1078992"/>
            <a:ext cx="2468880" cy="320040"/>
          </a:xfrm>
          <a:prstGeom prst="rect">
            <a:avLst/>
          </a:prstGeom>
          <a:noFill/>
          <a:ln/>
        </p:spPr>
        <p:txBody>
          <a:bodyPr wrap="square" lIns="0" tIns="0" rIns="0" bIns="0" rtlCol="0" anchor="ctr"/>
          <a:lstStyle/>
          <a:p>
            <a:pPr indent="0" marL="0">
              <a:buNone/>
            </a:pPr>
            <a:r>
              <a:rPr lang="en-US" sz="1300" b="1" dirty="0">
                <a:solidFill>
                  <a:srgbClr val="0B2545"/>
                </a:solidFill>
              </a:rPr>
              <a:t>Interpretation</a:t>
            </a:r>
            <a:endParaRPr lang="en-US" sz="1300" dirty="0"/>
          </a:p>
        </p:txBody>
      </p:sp>
      <p:sp>
        <p:nvSpPr>
          <p:cNvPr id="8" name="Text 5"/>
          <p:cNvSpPr/>
          <p:nvPr/>
        </p:nvSpPr>
        <p:spPr>
          <a:xfrm>
            <a:off x="6080760" y="1463040"/>
            <a:ext cx="2468880" cy="3291840"/>
          </a:xfrm>
          <a:prstGeom prst="rect">
            <a:avLst/>
          </a:prstGeom>
          <a:noFill/>
          <a:ln/>
        </p:spPr>
        <p:txBody>
          <a:bodyPr wrap="square" rtlCol="0" anchor="ctr"/>
          <a:lstStyle/>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V17 and V14 are the strongest fraud signals</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These are PCA components encoding hidden behavioral patterns: merchant type, spending velocity, geography</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Amount has LOW importance — fraud is not about transaction size alone</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Time has near-zero importance</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Consistent with Alarfaj et al. (2022) and Itoo et al. (2021)</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IMPLEMENTATION</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Code Quality &amp; Testing</a:t>
            </a:r>
            <a:endParaRPr lang="en-US" sz="2800" dirty="0"/>
          </a:p>
        </p:txBody>
      </p:sp>
      <p:sp>
        <p:nvSpPr>
          <p:cNvPr id="5" name="Shape 3"/>
          <p:cNvSpPr/>
          <p:nvPr/>
        </p:nvSpPr>
        <p:spPr>
          <a:xfrm>
            <a:off x="411480" y="1005840"/>
            <a:ext cx="256032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411480" y="1097280"/>
            <a:ext cx="2560320" cy="777240"/>
          </a:xfrm>
          <a:prstGeom prst="rect">
            <a:avLst/>
          </a:prstGeom>
          <a:noFill/>
          <a:ln/>
        </p:spPr>
        <p:txBody>
          <a:bodyPr wrap="square" lIns="0" tIns="0" rIns="0" bIns="0" rtlCol="0" anchor="ctr"/>
          <a:lstStyle/>
          <a:p>
            <a:pPr algn="ctr" indent="0" marL="0">
              <a:buNone/>
            </a:pPr>
            <a:r>
              <a:rPr lang="en-US" sz="4200" b="1" dirty="0">
                <a:solidFill>
                  <a:srgbClr val="059669"/>
                </a:solidFill>
              </a:rPr>
              <a:t>25</a:t>
            </a:r>
            <a:endParaRPr lang="en-US" sz="4200" dirty="0"/>
          </a:p>
        </p:txBody>
      </p:sp>
      <p:sp>
        <p:nvSpPr>
          <p:cNvPr id="7" name="Text 5"/>
          <p:cNvSpPr/>
          <p:nvPr/>
        </p:nvSpPr>
        <p:spPr>
          <a:xfrm>
            <a:off x="411480" y="1847088"/>
            <a:ext cx="2560320" cy="438912"/>
          </a:xfrm>
          <a:prstGeom prst="rect">
            <a:avLst/>
          </a:prstGeom>
          <a:noFill/>
          <a:ln/>
        </p:spPr>
        <p:txBody>
          <a:bodyPr wrap="square" lIns="0" tIns="0" rIns="0" bIns="0" rtlCol="0" anchor="t"/>
          <a:lstStyle/>
          <a:p>
            <a:pPr algn="ctr" indent="0" marL="0">
              <a:buNone/>
            </a:pPr>
            <a:r>
              <a:rPr lang="en-US" sz="1100" dirty="0">
                <a:solidFill>
                  <a:srgbClr val="64748B"/>
                </a:solidFill>
              </a:rPr>
              <a:t>Unit tests</a:t>
            </a:r>
            <a:endParaRPr lang="en-US" sz="1100" dirty="0"/>
          </a:p>
          <a:p>
            <a:pPr algn="ctr" indent="0" marL="0">
              <a:buNone/>
            </a:pPr>
            <a:r>
              <a:rPr lang="en-US" sz="1100" dirty="0">
                <a:solidFill>
                  <a:srgbClr val="64748B"/>
                </a:solidFill>
              </a:rPr>
              <a:t>(13 preprocessing</a:t>
            </a:r>
            <a:endParaRPr lang="en-US" sz="1100" dirty="0"/>
          </a:p>
          <a:p>
            <a:pPr algn="ctr" indent="0" marL="0">
              <a:buNone/>
            </a:pPr>
            <a:r>
              <a:rPr lang="en-US" sz="1100" dirty="0">
                <a:solidFill>
                  <a:srgbClr val="64748B"/>
                </a:solidFill>
              </a:rPr>
              <a:t>+ 12 models)</a:t>
            </a:r>
            <a:endParaRPr lang="en-US" sz="1100" dirty="0"/>
          </a:p>
        </p:txBody>
      </p:sp>
      <p:sp>
        <p:nvSpPr>
          <p:cNvPr id="8" name="Shape 6"/>
          <p:cNvSpPr/>
          <p:nvPr/>
        </p:nvSpPr>
        <p:spPr>
          <a:xfrm>
            <a:off x="3291840" y="1005840"/>
            <a:ext cx="256032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3291840" y="1097280"/>
            <a:ext cx="2560320" cy="777240"/>
          </a:xfrm>
          <a:prstGeom prst="rect">
            <a:avLst/>
          </a:prstGeom>
          <a:noFill/>
          <a:ln/>
        </p:spPr>
        <p:txBody>
          <a:bodyPr wrap="square" lIns="0" tIns="0" rIns="0" bIns="0" rtlCol="0" anchor="ctr"/>
          <a:lstStyle/>
          <a:p>
            <a:pPr algn="ctr" indent="0" marL="0">
              <a:buNone/>
            </a:pPr>
            <a:r>
              <a:rPr lang="en-US" sz="4200" b="1" dirty="0">
                <a:solidFill>
                  <a:srgbClr val="059669"/>
                </a:solidFill>
              </a:rPr>
              <a:t>60%+</a:t>
            </a:r>
            <a:endParaRPr lang="en-US" sz="4200" dirty="0"/>
          </a:p>
        </p:txBody>
      </p:sp>
      <p:sp>
        <p:nvSpPr>
          <p:cNvPr id="10" name="Text 8"/>
          <p:cNvSpPr/>
          <p:nvPr/>
        </p:nvSpPr>
        <p:spPr>
          <a:xfrm>
            <a:off x="3291840" y="1847088"/>
            <a:ext cx="2560320" cy="438912"/>
          </a:xfrm>
          <a:prstGeom prst="rect">
            <a:avLst/>
          </a:prstGeom>
          <a:noFill/>
          <a:ln/>
        </p:spPr>
        <p:txBody>
          <a:bodyPr wrap="square" lIns="0" tIns="0" rIns="0" bIns="0" rtlCol="0" anchor="t"/>
          <a:lstStyle/>
          <a:p>
            <a:pPr algn="ctr" indent="0" marL="0">
              <a:buNone/>
            </a:pPr>
            <a:r>
              <a:rPr lang="en-US" sz="1100" dirty="0">
                <a:solidFill>
                  <a:srgbClr val="64748B"/>
                </a:solidFill>
              </a:rPr>
              <a:t>Code coverage</a:t>
            </a:r>
            <a:endParaRPr lang="en-US" sz="1100" dirty="0"/>
          </a:p>
          <a:p>
            <a:pPr algn="ctr" indent="0" marL="0">
              <a:buNone/>
            </a:pPr>
            <a:r>
              <a:rPr lang="en-US" sz="1100" dirty="0">
                <a:solidFill>
                  <a:srgbClr val="64748B"/>
                </a:solidFill>
              </a:rPr>
              <a:t>(pytest-cov)</a:t>
            </a:r>
            <a:endParaRPr lang="en-US" sz="1100" dirty="0"/>
          </a:p>
        </p:txBody>
      </p:sp>
      <p:sp>
        <p:nvSpPr>
          <p:cNvPr id="11" name="Shape 9"/>
          <p:cNvSpPr/>
          <p:nvPr/>
        </p:nvSpPr>
        <p:spPr>
          <a:xfrm>
            <a:off x="6172200" y="1005840"/>
            <a:ext cx="256032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6172200" y="1097280"/>
            <a:ext cx="2560320" cy="777240"/>
          </a:xfrm>
          <a:prstGeom prst="rect">
            <a:avLst/>
          </a:prstGeom>
          <a:noFill/>
          <a:ln/>
        </p:spPr>
        <p:txBody>
          <a:bodyPr wrap="square" lIns="0" tIns="0" rIns="0" bIns="0" rtlCol="0" anchor="ctr"/>
          <a:lstStyle/>
          <a:p>
            <a:pPr algn="ctr" indent="0" marL="0">
              <a:buNone/>
            </a:pPr>
            <a:r>
              <a:rPr lang="en-US" sz="4200" b="1" dirty="0">
                <a:solidFill>
                  <a:srgbClr val="065A82"/>
                </a:solidFill>
              </a:rPr>
              <a:t>6</a:t>
            </a:r>
            <a:endParaRPr lang="en-US" sz="4200" dirty="0"/>
          </a:p>
        </p:txBody>
      </p:sp>
      <p:sp>
        <p:nvSpPr>
          <p:cNvPr id="13" name="Text 11"/>
          <p:cNvSpPr/>
          <p:nvPr/>
        </p:nvSpPr>
        <p:spPr>
          <a:xfrm>
            <a:off x="6172200" y="1847088"/>
            <a:ext cx="2560320" cy="438912"/>
          </a:xfrm>
          <a:prstGeom prst="rect">
            <a:avLst/>
          </a:prstGeom>
          <a:noFill/>
          <a:ln/>
        </p:spPr>
        <p:txBody>
          <a:bodyPr wrap="square" lIns="0" tIns="0" rIns="0" bIns="0" rtlCol="0" anchor="t"/>
          <a:lstStyle/>
          <a:p>
            <a:pPr algn="ctr" indent="0" marL="0">
              <a:buNone/>
            </a:pPr>
            <a:r>
              <a:rPr lang="en-US" sz="1100" dirty="0">
                <a:solidFill>
                  <a:srgbClr val="64748B"/>
                </a:solidFill>
              </a:rPr>
              <a:t>Source modules</a:t>
            </a:r>
            <a:endParaRPr lang="en-US" sz="1100" dirty="0"/>
          </a:p>
          <a:p>
            <a:pPr algn="ctr" indent="0" marL="0">
              <a:buNone/>
            </a:pPr>
            <a:r>
              <a:rPr lang="en-US" sz="1100" dirty="0">
                <a:solidFill>
                  <a:srgbClr val="64748B"/>
                </a:solidFill>
              </a:rPr>
              <a:t>+ config</a:t>
            </a:r>
            <a:endParaRPr lang="en-US" sz="1100" dirty="0"/>
          </a:p>
        </p:txBody>
      </p:sp>
      <p:sp>
        <p:nvSpPr>
          <p:cNvPr id="14" name="Shape 12"/>
          <p:cNvSpPr/>
          <p:nvPr/>
        </p:nvSpPr>
        <p:spPr>
          <a:xfrm>
            <a:off x="411480" y="2606040"/>
            <a:ext cx="397764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2724912"/>
            <a:ext cx="3566160" cy="320040"/>
          </a:xfrm>
          <a:prstGeom prst="rect">
            <a:avLst/>
          </a:prstGeom>
          <a:noFill/>
          <a:ln/>
        </p:spPr>
        <p:txBody>
          <a:bodyPr wrap="square" lIns="0" tIns="0" rIns="0" bIns="0" rtlCol="0" anchor="ctr"/>
          <a:lstStyle/>
          <a:p>
            <a:pPr indent="0" marL="0">
              <a:buNone/>
            </a:pPr>
            <a:r>
              <a:rPr lang="en-US" sz="1200" b="1" dirty="0">
                <a:solidFill>
                  <a:srgbClr val="0B2545"/>
                </a:solidFill>
              </a:rPr>
              <a:t>Test Coverage Highlights</a:t>
            </a:r>
            <a:endParaRPr lang="en-US" sz="1200" dirty="0"/>
          </a:p>
        </p:txBody>
      </p:sp>
      <p:sp>
        <p:nvSpPr>
          <p:cNvPr id="16" name="Text 14"/>
          <p:cNvSpPr/>
          <p:nvPr/>
        </p:nvSpPr>
        <p:spPr>
          <a:xfrm>
            <a:off x="594360" y="3090672"/>
            <a:ext cx="3566160" cy="1554480"/>
          </a:xfrm>
          <a:prstGeom prst="rect">
            <a:avLst/>
          </a:prstGeom>
          <a:noFill/>
          <a:ln/>
        </p:spPr>
        <p:txBody>
          <a:bodyPr wrap="square" rtlCol="0" anchor="ctr"/>
          <a:lstStyle/>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Stratified split sizes correct (70/30)</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Fraud ratio preserved in both splits</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Scaler mean ≈ 0 on train set</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No missing values after preprocessing</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Reproducibility (same seed = same split)</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All 5 models: predict(), predict_proba()</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Probabilities sum to 1.0 per row</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Models survive joblib save &amp; reload</a:t>
            </a:r>
            <a:endParaRPr lang="en-US" sz="1400" dirty="0"/>
          </a:p>
        </p:txBody>
      </p:sp>
      <p:sp>
        <p:nvSpPr>
          <p:cNvPr id="17" name="Shape 15"/>
          <p:cNvSpPr/>
          <p:nvPr/>
        </p:nvSpPr>
        <p:spPr>
          <a:xfrm>
            <a:off x="4572000" y="2606040"/>
            <a:ext cx="4160520" cy="2148840"/>
          </a:xfrm>
          <a:prstGeom prst="roundRect">
            <a:avLst>
              <a:gd name="adj" fmla="val 3404"/>
            </a:avLst>
          </a:prstGeom>
          <a:solidFill>
            <a:srgbClr val="FFFFFF"/>
          </a:solidFill>
          <a:ln/>
          <a:effectLst>
            <a:outerShdw sx="100000" sy="100000" kx="0" ky="0" algn="bl" rotWithShape="0" blurRad="101600" dist="38100" dir="2700000">
              <a:srgbClr val="000000">
                <a:alpha val="12000"/>
              </a:srgbClr>
            </a:outerShdw>
          </a:effectLst>
        </p:spPr>
      </p:sp>
      <p:sp>
        <p:nvSpPr>
          <p:cNvPr id="18" name="Text 16"/>
          <p:cNvSpPr/>
          <p:nvPr/>
        </p:nvSpPr>
        <p:spPr>
          <a:xfrm>
            <a:off x="4754880" y="2724912"/>
            <a:ext cx="3749040" cy="320040"/>
          </a:xfrm>
          <a:prstGeom prst="rect">
            <a:avLst/>
          </a:prstGeom>
          <a:noFill/>
          <a:ln/>
        </p:spPr>
        <p:txBody>
          <a:bodyPr wrap="square" lIns="0" tIns="0" rIns="0" bIns="0" rtlCol="0" anchor="ctr"/>
          <a:lstStyle/>
          <a:p>
            <a:pPr indent="0" marL="0">
              <a:buNone/>
            </a:pPr>
            <a:r>
              <a:rPr lang="en-US" sz="1200" b="1" dirty="0">
                <a:solidFill>
                  <a:srgbClr val="0B2545"/>
                </a:solidFill>
              </a:rPr>
              <a:t>Project Structure</a:t>
            </a:r>
            <a:endParaRPr lang="en-US" sz="1200" dirty="0"/>
          </a:p>
        </p:txBody>
      </p:sp>
      <p:sp>
        <p:nvSpPr>
          <p:cNvPr id="19" name="Text 17"/>
          <p:cNvSpPr/>
          <p:nvPr/>
        </p:nvSpPr>
        <p:spPr>
          <a:xfrm>
            <a:off x="4754880" y="3090672"/>
            <a:ext cx="3749040" cy="1554480"/>
          </a:xfrm>
          <a:prstGeom prst="rect">
            <a:avLst/>
          </a:prstGeom>
          <a:noFill/>
          <a:ln/>
        </p:spPr>
        <p:txBody>
          <a:bodyPr wrap="square" rtlCol="0" anchor="ctr"/>
          <a:lstStyle/>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config/config.py — no magic numbers</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src/ — 6 modular scripts</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tests/ — pytest with coverage</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models/ — saved .joblib files</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reports/figures/ — 8+ plots</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requirements.txt + README.md</a:t>
            </a:r>
            <a:endParaRPr lang="en-US" sz="1400" dirty="0"/>
          </a:p>
          <a:p>
            <a:pPr marL="342900" indent="-342900">
              <a:spcAft>
                <a:spcPts val="100"/>
              </a:spcAft>
              <a:buSzPct val="100000"/>
              <a:buChar char="•"/>
            </a:pPr>
            <a:r>
              <a:rPr lang="en-US" sz="1400" dirty="0">
                <a:solidFill>
                  <a:srgbClr val="1E293B"/>
                </a:solidFill>
                <a:latin typeface="Calibri" pitchFamily="34" charset="0"/>
                <a:ea typeface="Calibri" pitchFamily="34" charset="-122"/>
                <a:cs typeface="Calibri" pitchFamily="34" charset="-120"/>
              </a:rPr>
              <a:t>Git: 10+ meaningful commits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DISCUSSION</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Discussion &amp; Key Insights</a:t>
            </a:r>
            <a:endParaRPr lang="en-US" sz="2800" dirty="0"/>
          </a:p>
        </p:txBody>
      </p:sp>
      <p:sp>
        <p:nvSpPr>
          <p:cNvPr id="5" name="Shape 3"/>
          <p:cNvSpPr/>
          <p:nvPr/>
        </p:nvSpPr>
        <p:spPr>
          <a:xfrm>
            <a:off x="411480" y="1005840"/>
            <a:ext cx="4023360" cy="1783080"/>
          </a:xfrm>
          <a:prstGeom prst="roundRect">
            <a:avLst>
              <a:gd name="adj" fmla="val 4103"/>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576072" y="1170432"/>
            <a:ext cx="457200" cy="457200"/>
          </a:xfrm>
          <a:prstGeom prst="ellipse">
            <a:avLst/>
          </a:prstGeom>
          <a:solidFill>
            <a:srgbClr val="059669">
              <a:alpha val="80000"/>
            </a:srgbClr>
          </a:solidFill>
          <a:ln/>
        </p:spPr>
      </p:sp>
      <p:sp>
        <p:nvSpPr>
          <p:cNvPr id="7" name="Text 5"/>
          <p:cNvSpPr/>
          <p:nvPr/>
        </p:nvSpPr>
        <p:spPr>
          <a:xfrm>
            <a:off x="576072" y="1170432"/>
            <a:ext cx="457200" cy="457200"/>
          </a:xfrm>
          <a:prstGeom prst="rect">
            <a:avLst/>
          </a:prstGeom>
          <a:noFill/>
          <a:ln/>
        </p:spPr>
        <p:txBody>
          <a:bodyPr wrap="square" lIns="0" tIns="0" rIns="0" bIns="0" rtlCol="0" anchor="ctr"/>
          <a:lstStyle/>
          <a:p>
            <a:pPr algn="ctr" indent="0" marL="0">
              <a:buNone/>
            </a:pPr>
            <a:r>
              <a:rPr lang="en-US" sz="1600" dirty="0">
                <a:solidFill>
                  <a:srgbClr val="059669"/>
                </a:solidFill>
              </a:rPr>
              <a:t>✓</a:t>
            </a:r>
            <a:endParaRPr lang="en-US" sz="1600" dirty="0"/>
          </a:p>
        </p:txBody>
      </p:sp>
      <p:sp>
        <p:nvSpPr>
          <p:cNvPr id="8" name="Text 6"/>
          <p:cNvSpPr/>
          <p:nvPr/>
        </p:nvSpPr>
        <p:spPr>
          <a:xfrm>
            <a:off x="1161288" y="1170432"/>
            <a:ext cx="3127248" cy="292608"/>
          </a:xfrm>
          <a:prstGeom prst="rect">
            <a:avLst/>
          </a:prstGeom>
          <a:noFill/>
          <a:ln/>
        </p:spPr>
        <p:txBody>
          <a:bodyPr wrap="square" lIns="0" tIns="0" rIns="0" bIns="0" rtlCol="0" anchor="ctr"/>
          <a:lstStyle/>
          <a:p>
            <a:pPr indent="0" marL="0">
              <a:buNone/>
            </a:pPr>
            <a:r>
              <a:rPr lang="en-US" sz="1200" b="1" dirty="0">
                <a:solidFill>
                  <a:srgbClr val="0B2545"/>
                </a:solidFill>
              </a:rPr>
              <a:t>Why Ensembles Win</a:t>
            </a:r>
            <a:endParaRPr lang="en-US" sz="1200" dirty="0"/>
          </a:p>
        </p:txBody>
      </p:sp>
      <p:sp>
        <p:nvSpPr>
          <p:cNvPr id="9" name="Text 7"/>
          <p:cNvSpPr/>
          <p:nvPr/>
        </p:nvSpPr>
        <p:spPr>
          <a:xfrm>
            <a:off x="576072" y="1664208"/>
            <a:ext cx="3703320" cy="960120"/>
          </a:xfrm>
          <a:prstGeom prst="rect">
            <a:avLst/>
          </a:prstGeom>
          <a:noFill/>
          <a:ln/>
        </p:spPr>
        <p:txBody>
          <a:bodyPr wrap="square" lIns="0" tIns="0" rIns="0" bIns="0" rtlCol="0" anchor="t"/>
          <a:lstStyle/>
          <a:p>
            <a:pPr indent="0" marL="0">
              <a:buNone/>
            </a:pPr>
            <a:r>
              <a:rPr lang="en-US" sz="1050" dirty="0">
                <a:solidFill>
                  <a:srgbClr val="374151"/>
                </a:solidFill>
              </a:rPr>
              <a:t>Random Forest and XGBoost capture non-linear feature interactions that Logistic Regression cannot express. Fraud patterns require COMBINATIONS of features — no single feature signals fraud alone.</a:t>
            </a:r>
            <a:endParaRPr lang="en-US" sz="1050" dirty="0"/>
          </a:p>
        </p:txBody>
      </p:sp>
      <p:sp>
        <p:nvSpPr>
          <p:cNvPr id="10" name="Shape 8"/>
          <p:cNvSpPr/>
          <p:nvPr/>
        </p:nvSpPr>
        <p:spPr>
          <a:xfrm>
            <a:off x="411480" y="2971800"/>
            <a:ext cx="4023360" cy="1783080"/>
          </a:xfrm>
          <a:prstGeom prst="roundRect">
            <a:avLst>
              <a:gd name="adj" fmla="val 4103"/>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576072" y="3136392"/>
            <a:ext cx="457200" cy="457200"/>
          </a:xfrm>
          <a:prstGeom prst="ellipse">
            <a:avLst/>
          </a:prstGeom>
          <a:solidFill>
            <a:srgbClr val="059669">
              <a:alpha val="80000"/>
            </a:srgbClr>
          </a:solidFill>
          <a:ln/>
        </p:spPr>
      </p:sp>
      <p:sp>
        <p:nvSpPr>
          <p:cNvPr id="12" name="Text 10"/>
          <p:cNvSpPr/>
          <p:nvPr/>
        </p:nvSpPr>
        <p:spPr>
          <a:xfrm>
            <a:off x="576072" y="3136392"/>
            <a:ext cx="457200" cy="457200"/>
          </a:xfrm>
          <a:prstGeom prst="rect">
            <a:avLst/>
          </a:prstGeom>
          <a:noFill/>
          <a:ln/>
        </p:spPr>
        <p:txBody>
          <a:bodyPr wrap="square" lIns="0" tIns="0" rIns="0" bIns="0" rtlCol="0" anchor="ctr"/>
          <a:lstStyle/>
          <a:p>
            <a:pPr algn="ctr" indent="0" marL="0">
              <a:buNone/>
            </a:pPr>
            <a:r>
              <a:rPr lang="en-US" sz="1600" dirty="0">
                <a:solidFill>
                  <a:srgbClr val="059669"/>
                </a:solidFill>
              </a:rPr>
              <a:t>✓</a:t>
            </a:r>
            <a:endParaRPr lang="en-US" sz="1600" dirty="0"/>
          </a:p>
        </p:txBody>
      </p:sp>
      <p:sp>
        <p:nvSpPr>
          <p:cNvPr id="13" name="Text 11"/>
          <p:cNvSpPr/>
          <p:nvPr/>
        </p:nvSpPr>
        <p:spPr>
          <a:xfrm>
            <a:off x="1161288" y="3136392"/>
            <a:ext cx="3127248" cy="292608"/>
          </a:xfrm>
          <a:prstGeom prst="rect">
            <a:avLst/>
          </a:prstGeom>
          <a:noFill/>
          <a:ln/>
        </p:spPr>
        <p:txBody>
          <a:bodyPr wrap="square" lIns="0" tIns="0" rIns="0" bIns="0" rtlCol="0" anchor="ctr"/>
          <a:lstStyle/>
          <a:p>
            <a:pPr indent="0" marL="0">
              <a:buNone/>
            </a:pPr>
            <a:r>
              <a:rPr lang="en-US" sz="1200" b="1" dirty="0">
                <a:solidFill>
                  <a:srgbClr val="0B2545"/>
                </a:solidFill>
              </a:rPr>
              <a:t>Neural Network Gap</a:t>
            </a:r>
            <a:endParaRPr lang="en-US" sz="1200" dirty="0"/>
          </a:p>
        </p:txBody>
      </p:sp>
      <p:sp>
        <p:nvSpPr>
          <p:cNvPr id="14" name="Text 12"/>
          <p:cNvSpPr/>
          <p:nvPr/>
        </p:nvSpPr>
        <p:spPr>
          <a:xfrm>
            <a:off x="576072" y="3630168"/>
            <a:ext cx="3703320" cy="960120"/>
          </a:xfrm>
          <a:prstGeom prst="rect">
            <a:avLst/>
          </a:prstGeom>
          <a:noFill/>
          <a:ln/>
        </p:spPr>
        <p:txBody>
          <a:bodyPr wrap="square" lIns="0" tIns="0" rIns="0" bIns="0" rtlCol="0" anchor="t"/>
          <a:lstStyle/>
          <a:p>
            <a:pPr indent="0" marL="0">
              <a:buNone/>
            </a:pPr>
            <a:r>
              <a:rPr lang="en-US" sz="1050" dirty="0">
                <a:solidFill>
                  <a:srgbClr val="374151"/>
                </a:solidFill>
              </a:rPr>
              <a:t>MLP achieves F1 ~0.81 but doesn't beat ensembles. On tabular data with 30 features, gradient boosting typically outperforms deep learning — hierarchical features learned by CNNs are not needed here.</a:t>
            </a:r>
            <a:endParaRPr lang="en-US" sz="1050" dirty="0"/>
          </a:p>
        </p:txBody>
      </p:sp>
      <p:sp>
        <p:nvSpPr>
          <p:cNvPr id="15" name="Shape 13"/>
          <p:cNvSpPr/>
          <p:nvPr/>
        </p:nvSpPr>
        <p:spPr>
          <a:xfrm>
            <a:off x="4663440" y="1005840"/>
            <a:ext cx="4023360" cy="1783080"/>
          </a:xfrm>
          <a:prstGeom prst="roundRect">
            <a:avLst>
              <a:gd name="adj" fmla="val 4103"/>
            </a:avLst>
          </a:prstGeom>
          <a:solidFill>
            <a:srgbClr val="FFFFFF"/>
          </a:solidFill>
          <a:ln/>
          <a:effectLst>
            <a:outerShdw sx="100000" sy="100000" kx="0" ky="0" algn="bl" rotWithShape="0" blurRad="101600" dist="38100" dir="2700000">
              <a:srgbClr val="000000">
                <a:alpha val="12000"/>
              </a:srgbClr>
            </a:outerShdw>
          </a:effectLst>
        </p:spPr>
      </p:sp>
      <p:sp>
        <p:nvSpPr>
          <p:cNvPr id="16" name="Shape 14"/>
          <p:cNvSpPr/>
          <p:nvPr/>
        </p:nvSpPr>
        <p:spPr>
          <a:xfrm>
            <a:off x="4828032" y="1170432"/>
            <a:ext cx="457200" cy="457200"/>
          </a:xfrm>
          <a:prstGeom prst="ellipse">
            <a:avLst/>
          </a:prstGeom>
          <a:solidFill>
            <a:srgbClr val="D97706">
              <a:alpha val="80000"/>
            </a:srgbClr>
          </a:solidFill>
          <a:ln/>
        </p:spPr>
      </p:sp>
      <p:sp>
        <p:nvSpPr>
          <p:cNvPr id="17" name="Text 15"/>
          <p:cNvSpPr/>
          <p:nvPr/>
        </p:nvSpPr>
        <p:spPr>
          <a:xfrm>
            <a:off x="4828032" y="1170432"/>
            <a:ext cx="457200" cy="457200"/>
          </a:xfrm>
          <a:prstGeom prst="rect">
            <a:avLst/>
          </a:prstGeom>
          <a:noFill/>
          <a:ln/>
        </p:spPr>
        <p:txBody>
          <a:bodyPr wrap="square" lIns="0" tIns="0" rIns="0" bIns="0" rtlCol="0" anchor="ctr"/>
          <a:lstStyle/>
          <a:p>
            <a:pPr algn="ctr" indent="0" marL="0">
              <a:buNone/>
            </a:pPr>
            <a:r>
              <a:rPr lang="en-US" sz="1600" dirty="0">
                <a:solidFill>
                  <a:srgbClr val="D97706"/>
                </a:solidFill>
              </a:rPr>
              <a:t>⚠</a:t>
            </a:r>
            <a:endParaRPr lang="en-US" sz="1600" dirty="0"/>
          </a:p>
        </p:txBody>
      </p:sp>
      <p:sp>
        <p:nvSpPr>
          <p:cNvPr id="18" name="Text 16"/>
          <p:cNvSpPr/>
          <p:nvPr/>
        </p:nvSpPr>
        <p:spPr>
          <a:xfrm>
            <a:off x="5413248" y="1170432"/>
            <a:ext cx="3127248" cy="292608"/>
          </a:xfrm>
          <a:prstGeom prst="rect">
            <a:avLst/>
          </a:prstGeom>
          <a:noFill/>
          <a:ln/>
        </p:spPr>
        <p:txBody>
          <a:bodyPr wrap="square" lIns="0" tIns="0" rIns="0" bIns="0" rtlCol="0" anchor="ctr"/>
          <a:lstStyle/>
          <a:p>
            <a:pPr indent="0" marL="0">
              <a:buNone/>
            </a:pPr>
            <a:r>
              <a:rPr lang="en-US" sz="1200" b="1" dirty="0">
                <a:solidFill>
                  <a:srgbClr val="0B2545"/>
                </a:solidFill>
              </a:rPr>
              <a:t>False Negatives Matter</a:t>
            </a:r>
            <a:endParaRPr lang="en-US" sz="1200" dirty="0"/>
          </a:p>
        </p:txBody>
      </p:sp>
      <p:sp>
        <p:nvSpPr>
          <p:cNvPr id="19" name="Text 17"/>
          <p:cNvSpPr/>
          <p:nvPr/>
        </p:nvSpPr>
        <p:spPr>
          <a:xfrm>
            <a:off x="4828032" y="1664208"/>
            <a:ext cx="3703320" cy="960120"/>
          </a:xfrm>
          <a:prstGeom prst="rect">
            <a:avLst/>
          </a:prstGeom>
          <a:noFill/>
          <a:ln/>
        </p:spPr>
        <p:txBody>
          <a:bodyPr wrap="square" lIns="0" tIns="0" rIns="0" bIns="0" rtlCol="0" anchor="t"/>
          <a:lstStyle/>
          <a:p>
            <a:pPr indent="0" marL="0">
              <a:buNone/>
            </a:pPr>
            <a:r>
              <a:rPr lang="en-US" sz="1050" dirty="0">
                <a:solidFill>
                  <a:srgbClr val="374151"/>
                </a:solidFill>
              </a:rPr>
              <a:t>At Recall 0.83, we miss ~17% of fraud. In the test set (~147 fraud cases), ~25 slip through. The optimal threshold is a business decision: it depends on the cost ratio of false negatives vs false positives.</a:t>
            </a:r>
            <a:endParaRPr lang="en-US" sz="1050" dirty="0"/>
          </a:p>
        </p:txBody>
      </p:sp>
      <p:sp>
        <p:nvSpPr>
          <p:cNvPr id="20" name="Shape 18"/>
          <p:cNvSpPr/>
          <p:nvPr/>
        </p:nvSpPr>
        <p:spPr>
          <a:xfrm>
            <a:off x="4663440" y="2971800"/>
            <a:ext cx="4023360" cy="1783080"/>
          </a:xfrm>
          <a:prstGeom prst="roundRect">
            <a:avLst>
              <a:gd name="adj" fmla="val 4103"/>
            </a:avLst>
          </a:prstGeom>
          <a:solidFill>
            <a:srgbClr val="FFFFFF"/>
          </a:solidFill>
          <a:ln/>
          <a:effectLst>
            <a:outerShdw sx="100000" sy="100000" kx="0" ky="0" algn="bl" rotWithShape="0" blurRad="101600" dist="38100" dir="2700000">
              <a:srgbClr val="000000">
                <a:alpha val="12000"/>
              </a:srgbClr>
            </a:outerShdw>
          </a:effectLst>
        </p:spPr>
      </p:sp>
      <p:sp>
        <p:nvSpPr>
          <p:cNvPr id="21" name="Shape 19"/>
          <p:cNvSpPr/>
          <p:nvPr/>
        </p:nvSpPr>
        <p:spPr>
          <a:xfrm>
            <a:off x="4828032" y="3136392"/>
            <a:ext cx="457200" cy="457200"/>
          </a:xfrm>
          <a:prstGeom prst="ellipse">
            <a:avLst/>
          </a:prstGeom>
          <a:solidFill>
            <a:srgbClr val="D97706">
              <a:alpha val="80000"/>
            </a:srgbClr>
          </a:solidFill>
          <a:ln/>
        </p:spPr>
      </p:sp>
      <p:sp>
        <p:nvSpPr>
          <p:cNvPr id="22" name="Text 20"/>
          <p:cNvSpPr/>
          <p:nvPr/>
        </p:nvSpPr>
        <p:spPr>
          <a:xfrm>
            <a:off x="4828032" y="3136392"/>
            <a:ext cx="457200" cy="457200"/>
          </a:xfrm>
          <a:prstGeom prst="rect">
            <a:avLst/>
          </a:prstGeom>
          <a:noFill/>
          <a:ln/>
        </p:spPr>
        <p:txBody>
          <a:bodyPr wrap="square" lIns="0" tIns="0" rIns="0" bIns="0" rtlCol="0" anchor="ctr"/>
          <a:lstStyle/>
          <a:p>
            <a:pPr algn="ctr" indent="0" marL="0">
              <a:buNone/>
            </a:pPr>
            <a:r>
              <a:rPr lang="en-US" sz="1600" dirty="0">
                <a:solidFill>
                  <a:srgbClr val="D97706"/>
                </a:solidFill>
              </a:rPr>
              <a:t>⚠</a:t>
            </a:r>
            <a:endParaRPr lang="en-US" sz="1600" dirty="0"/>
          </a:p>
        </p:txBody>
      </p:sp>
      <p:sp>
        <p:nvSpPr>
          <p:cNvPr id="23" name="Text 21"/>
          <p:cNvSpPr/>
          <p:nvPr/>
        </p:nvSpPr>
        <p:spPr>
          <a:xfrm>
            <a:off x="5413248" y="3136392"/>
            <a:ext cx="3127248" cy="292608"/>
          </a:xfrm>
          <a:prstGeom prst="rect">
            <a:avLst/>
          </a:prstGeom>
          <a:noFill/>
          <a:ln/>
        </p:spPr>
        <p:txBody>
          <a:bodyPr wrap="square" lIns="0" tIns="0" rIns="0" bIns="0" rtlCol="0" anchor="ctr"/>
          <a:lstStyle/>
          <a:p>
            <a:pPr indent="0" marL="0">
              <a:buNone/>
            </a:pPr>
            <a:r>
              <a:rPr lang="en-US" sz="1200" b="1" dirty="0">
                <a:solidFill>
                  <a:srgbClr val="0B2545"/>
                </a:solidFill>
              </a:rPr>
              <a:t>Limitations</a:t>
            </a:r>
            <a:endParaRPr lang="en-US" sz="1200" dirty="0"/>
          </a:p>
        </p:txBody>
      </p:sp>
      <p:sp>
        <p:nvSpPr>
          <p:cNvPr id="24" name="Text 22"/>
          <p:cNvSpPr/>
          <p:nvPr/>
        </p:nvSpPr>
        <p:spPr>
          <a:xfrm>
            <a:off x="4828032" y="3630168"/>
            <a:ext cx="3703320" cy="960120"/>
          </a:xfrm>
          <a:prstGeom prst="rect">
            <a:avLst/>
          </a:prstGeom>
          <a:noFill/>
          <a:ln/>
        </p:spPr>
        <p:txBody>
          <a:bodyPr wrap="square" lIns="0" tIns="0" rIns="0" bIns="0" rtlCol="0" anchor="t"/>
          <a:lstStyle/>
          <a:p>
            <a:pPr indent="0" marL="0">
              <a:buNone/>
            </a:pPr>
            <a:r>
              <a:rPr lang="en-US" sz="1050" dirty="0">
                <a:solidFill>
                  <a:srgbClr val="374151"/>
                </a:solidFill>
              </a:rPr>
              <a:t>Dataset covers only 2 days in 2013 (concept drift risk). PCA anonymization prevents domain feature engineering. Static split doesn't simulate production deployment with temporal ordering.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CHALLENGES</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Challenges &amp; How We Solved Them</a:t>
            </a:r>
            <a:endParaRPr lang="en-US" sz="2800" dirty="0"/>
          </a:p>
        </p:txBody>
      </p:sp>
      <p:sp>
        <p:nvSpPr>
          <p:cNvPr id="5" name="Shape 3"/>
          <p:cNvSpPr/>
          <p:nvPr/>
        </p:nvSpPr>
        <p:spPr>
          <a:xfrm>
            <a:off x="411480" y="1024128"/>
            <a:ext cx="8321040" cy="658368"/>
          </a:xfrm>
          <a:prstGeom prst="roundRect">
            <a:avLst>
              <a:gd name="adj" fmla="val 11111"/>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566928" y="1124712"/>
            <a:ext cx="438912" cy="438912"/>
          </a:xfrm>
          <a:prstGeom prst="ellipse">
            <a:avLst/>
          </a:prstGeom>
          <a:solidFill>
            <a:srgbClr val="DC2626">
              <a:alpha val="80000"/>
            </a:srgbClr>
          </a:solidFill>
          <a:ln/>
        </p:spPr>
      </p:sp>
      <p:sp>
        <p:nvSpPr>
          <p:cNvPr id="7" name="Text 5"/>
          <p:cNvSpPr/>
          <p:nvPr/>
        </p:nvSpPr>
        <p:spPr>
          <a:xfrm>
            <a:off x="566928" y="1124712"/>
            <a:ext cx="438912" cy="438912"/>
          </a:xfrm>
          <a:prstGeom prst="rect">
            <a:avLst/>
          </a:prstGeom>
          <a:noFill/>
          <a:ln/>
        </p:spPr>
        <p:txBody>
          <a:bodyPr wrap="square" lIns="0" tIns="0" rIns="0" bIns="0" rtlCol="0" anchor="ctr"/>
          <a:lstStyle/>
          <a:p>
            <a:pPr algn="ctr" indent="0" marL="0">
              <a:buNone/>
            </a:pPr>
            <a:r>
              <a:rPr lang="en-US" sz="1600" b="1" dirty="0">
                <a:solidFill>
                  <a:srgbClr val="DC2626"/>
                </a:solidFill>
              </a:rPr>
              <a:t>!</a:t>
            </a:r>
            <a:endParaRPr lang="en-US" sz="1600" dirty="0"/>
          </a:p>
        </p:txBody>
      </p:sp>
      <p:sp>
        <p:nvSpPr>
          <p:cNvPr id="8" name="Text 6"/>
          <p:cNvSpPr/>
          <p:nvPr/>
        </p:nvSpPr>
        <p:spPr>
          <a:xfrm>
            <a:off x="1133856" y="1124712"/>
            <a:ext cx="3200400" cy="438912"/>
          </a:xfrm>
          <a:prstGeom prst="rect">
            <a:avLst/>
          </a:prstGeom>
          <a:noFill/>
          <a:ln/>
        </p:spPr>
        <p:txBody>
          <a:bodyPr wrap="square" lIns="0" tIns="0" rIns="0" bIns="0" rtlCol="0" anchor="ctr"/>
          <a:lstStyle/>
          <a:p>
            <a:pPr indent="0" marL="0">
              <a:buNone/>
            </a:pPr>
            <a:r>
              <a:rPr lang="en-US" sz="1150" b="1" dirty="0">
                <a:solidFill>
                  <a:srgbClr val="0B2545"/>
                </a:solidFill>
              </a:rPr>
              <a:t>Severe class imbalance (578:1)</a:t>
            </a:r>
            <a:endParaRPr lang="en-US" sz="1150" dirty="0"/>
          </a:p>
        </p:txBody>
      </p:sp>
      <p:sp>
        <p:nvSpPr>
          <p:cNvPr id="9" name="Shape 7"/>
          <p:cNvSpPr/>
          <p:nvPr/>
        </p:nvSpPr>
        <p:spPr>
          <a:xfrm>
            <a:off x="4462272" y="1353312"/>
            <a:ext cx="9144" cy="274320"/>
          </a:xfrm>
          <a:prstGeom prst="line">
            <a:avLst/>
          </a:prstGeom>
          <a:noFill/>
          <a:ln w="12700">
            <a:solidFill>
              <a:srgbClr val="CBD5E1"/>
            </a:solidFill>
            <a:prstDash val="solid"/>
          </a:ln>
        </p:spPr>
      </p:sp>
      <p:sp>
        <p:nvSpPr>
          <p:cNvPr id="10" name="Shape 8"/>
          <p:cNvSpPr/>
          <p:nvPr/>
        </p:nvSpPr>
        <p:spPr>
          <a:xfrm>
            <a:off x="4617720" y="1124712"/>
            <a:ext cx="438912" cy="438912"/>
          </a:xfrm>
          <a:prstGeom prst="ellipse">
            <a:avLst/>
          </a:prstGeom>
          <a:solidFill>
            <a:srgbClr val="059669">
              <a:alpha val="80000"/>
            </a:srgbClr>
          </a:solidFill>
          <a:ln/>
        </p:spPr>
      </p:sp>
      <p:sp>
        <p:nvSpPr>
          <p:cNvPr id="11" name="Text 9"/>
          <p:cNvSpPr/>
          <p:nvPr/>
        </p:nvSpPr>
        <p:spPr>
          <a:xfrm>
            <a:off x="4617720" y="1124712"/>
            <a:ext cx="438912" cy="438912"/>
          </a:xfrm>
          <a:prstGeom prst="rect">
            <a:avLst/>
          </a:prstGeom>
          <a:noFill/>
          <a:ln/>
        </p:spPr>
        <p:txBody>
          <a:bodyPr wrap="square" lIns="0" tIns="0" rIns="0" bIns="0" rtlCol="0" anchor="ctr"/>
          <a:lstStyle/>
          <a:p>
            <a:pPr algn="ctr" indent="0" marL="0">
              <a:buNone/>
            </a:pPr>
            <a:r>
              <a:rPr lang="en-US" sz="1600" b="1" dirty="0">
                <a:solidFill>
                  <a:srgbClr val="059669"/>
                </a:solidFill>
              </a:rPr>
              <a:t>✓</a:t>
            </a:r>
            <a:endParaRPr lang="en-US" sz="1600" dirty="0"/>
          </a:p>
        </p:txBody>
      </p:sp>
      <p:sp>
        <p:nvSpPr>
          <p:cNvPr id="12" name="Text 10"/>
          <p:cNvSpPr/>
          <p:nvPr/>
        </p:nvSpPr>
        <p:spPr>
          <a:xfrm>
            <a:off x="5166360" y="1124712"/>
            <a:ext cx="3383280" cy="438912"/>
          </a:xfrm>
          <a:prstGeom prst="rect">
            <a:avLst/>
          </a:prstGeom>
          <a:noFill/>
          <a:ln/>
        </p:spPr>
        <p:txBody>
          <a:bodyPr wrap="square" lIns="0" tIns="0" rIns="0" bIns="0" rtlCol="0" anchor="ctr"/>
          <a:lstStyle/>
          <a:p>
            <a:pPr indent="0" marL="0">
              <a:buNone/>
            </a:pPr>
            <a:r>
              <a:rPr lang="en-US" sz="1100" dirty="0">
                <a:solidFill>
                  <a:srgbClr val="374151"/>
                </a:solidFill>
              </a:rPr>
              <a:t>Used class_weight='balanced' and scale_pos_weight=578. Chose F1 over accuracy as primary metric.</a:t>
            </a:r>
            <a:endParaRPr lang="en-US" sz="1100" dirty="0"/>
          </a:p>
        </p:txBody>
      </p:sp>
      <p:sp>
        <p:nvSpPr>
          <p:cNvPr id="13" name="Shape 11"/>
          <p:cNvSpPr/>
          <p:nvPr/>
        </p:nvSpPr>
        <p:spPr>
          <a:xfrm>
            <a:off x="411480" y="1773936"/>
            <a:ext cx="8321040" cy="658368"/>
          </a:xfrm>
          <a:prstGeom prst="roundRect">
            <a:avLst>
              <a:gd name="adj" fmla="val 11111"/>
            </a:avLst>
          </a:prstGeom>
          <a:solidFill>
            <a:srgbClr val="F0F7FF"/>
          </a:solidFill>
          <a:ln/>
          <a:effectLst>
            <a:outerShdw sx="100000" sy="100000" kx="0" ky="0" algn="bl" rotWithShape="0" blurRad="101600" dist="38100" dir="2700000">
              <a:srgbClr val="000000">
                <a:alpha val="12000"/>
              </a:srgbClr>
            </a:outerShdw>
          </a:effectLst>
        </p:spPr>
      </p:sp>
      <p:sp>
        <p:nvSpPr>
          <p:cNvPr id="14" name="Shape 12"/>
          <p:cNvSpPr/>
          <p:nvPr/>
        </p:nvSpPr>
        <p:spPr>
          <a:xfrm>
            <a:off x="566928" y="1874520"/>
            <a:ext cx="438912" cy="438912"/>
          </a:xfrm>
          <a:prstGeom prst="ellipse">
            <a:avLst/>
          </a:prstGeom>
          <a:solidFill>
            <a:srgbClr val="DC2626">
              <a:alpha val="80000"/>
            </a:srgbClr>
          </a:solidFill>
          <a:ln/>
        </p:spPr>
      </p:sp>
      <p:sp>
        <p:nvSpPr>
          <p:cNvPr id="15" name="Text 13"/>
          <p:cNvSpPr/>
          <p:nvPr/>
        </p:nvSpPr>
        <p:spPr>
          <a:xfrm>
            <a:off x="566928" y="1874520"/>
            <a:ext cx="438912" cy="438912"/>
          </a:xfrm>
          <a:prstGeom prst="rect">
            <a:avLst/>
          </a:prstGeom>
          <a:noFill/>
          <a:ln/>
        </p:spPr>
        <p:txBody>
          <a:bodyPr wrap="square" lIns="0" tIns="0" rIns="0" bIns="0" rtlCol="0" anchor="ctr"/>
          <a:lstStyle/>
          <a:p>
            <a:pPr algn="ctr" indent="0" marL="0">
              <a:buNone/>
            </a:pPr>
            <a:r>
              <a:rPr lang="en-US" sz="1600" b="1" dirty="0">
                <a:solidFill>
                  <a:srgbClr val="DC2626"/>
                </a:solidFill>
              </a:rPr>
              <a:t>!</a:t>
            </a:r>
            <a:endParaRPr lang="en-US" sz="1600" dirty="0"/>
          </a:p>
        </p:txBody>
      </p:sp>
      <p:sp>
        <p:nvSpPr>
          <p:cNvPr id="16" name="Text 14"/>
          <p:cNvSpPr/>
          <p:nvPr/>
        </p:nvSpPr>
        <p:spPr>
          <a:xfrm>
            <a:off x="1133856" y="1874520"/>
            <a:ext cx="3200400" cy="438912"/>
          </a:xfrm>
          <a:prstGeom prst="rect">
            <a:avLst/>
          </a:prstGeom>
          <a:noFill/>
          <a:ln/>
        </p:spPr>
        <p:txBody>
          <a:bodyPr wrap="square" lIns="0" tIns="0" rIns="0" bIns="0" rtlCol="0" anchor="ctr"/>
          <a:lstStyle/>
          <a:p>
            <a:pPr indent="0" marL="0">
              <a:buNone/>
            </a:pPr>
            <a:r>
              <a:rPr lang="en-US" sz="1150" b="1" dirty="0">
                <a:solidFill>
                  <a:srgbClr val="0B2545"/>
                </a:solidFill>
              </a:rPr>
              <a:t>Data leakage risk with scaling</a:t>
            </a:r>
            <a:endParaRPr lang="en-US" sz="1150" dirty="0"/>
          </a:p>
        </p:txBody>
      </p:sp>
      <p:sp>
        <p:nvSpPr>
          <p:cNvPr id="17" name="Shape 15"/>
          <p:cNvSpPr/>
          <p:nvPr/>
        </p:nvSpPr>
        <p:spPr>
          <a:xfrm>
            <a:off x="4462272" y="2103120"/>
            <a:ext cx="9144" cy="274320"/>
          </a:xfrm>
          <a:prstGeom prst="line">
            <a:avLst/>
          </a:prstGeom>
          <a:noFill/>
          <a:ln w="12700">
            <a:solidFill>
              <a:srgbClr val="CBD5E1"/>
            </a:solidFill>
            <a:prstDash val="solid"/>
          </a:ln>
        </p:spPr>
      </p:sp>
      <p:sp>
        <p:nvSpPr>
          <p:cNvPr id="18" name="Shape 16"/>
          <p:cNvSpPr/>
          <p:nvPr/>
        </p:nvSpPr>
        <p:spPr>
          <a:xfrm>
            <a:off x="4617720" y="1874520"/>
            <a:ext cx="438912" cy="438912"/>
          </a:xfrm>
          <a:prstGeom prst="ellipse">
            <a:avLst/>
          </a:prstGeom>
          <a:solidFill>
            <a:srgbClr val="059669">
              <a:alpha val="80000"/>
            </a:srgbClr>
          </a:solidFill>
          <a:ln/>
        </p:spPr>
      </p:sp>
      <p:sp>
        <p:nvSpPr>
          <p:cNvPr id="19" name="Text 17"/>
          <p:cNvSpPr/>
          <p:nvPr/>
        </p:nvSpPr>
        <p:spPr>
          <a:xfrm>
            <a:off x="4617720" y="1874520"/>
            <a:ext cx="438912" cy="438912"/>
          </a:xfrm>
          <a:prstGeom prst="rect">
            <a:avLst/>
          </a:prstGeom>
          <a:noFill/>
          <a:ln/>
        </p:spPr>
        <p:txBody>
          <a:bodyPr wrap="square" lIns="0" tIns="0" rIns="0" bIns="0" rtlCol="0" anchor="ctr"/>
          <a:lstStyle/>
          <a:p>
            <a:pPr algn="ctr" indent="0" marL="0">
              <a:buNone/>
            </a:pPr>
            <a:r>
              <a:rPr lang="en-US" sz="1600" b="1" dirty="0">
                <a:solidFill>
                  <a:srgbClr val="059669"/>
                </a:solidFill>
              </a:rPr>
              <a:t>✓</a:t>
            </a:r>
            <a:endParaRPr lang="en-US" sz="1600" dirty="0"/>
          </a:p>
        </p:txBody>
      </p:sp>
      <p:sp>
        <p:nvSpPr>
          <p:cNvPr id="20" name="Text 18"/>
          <p:cNvSpPr/>
          <p:nvPr/>
        </p:nvSpPr>
        <p:spPr>
          <a:xfrm>
            <a:off x="5166360" y="1874520"/>
            <a:ext cx="3383280" cy="438912"/>
          </a:xfrm>
          <a:prstGeom prst="rect">
            <a:avLst/>
          </a:prstGeom>
          <a:noFill/>
          <a:ln/>
        </p:spPr>
        <p:txBody>
          <a:bodyPr wrap="square" lIns="0" tIns="0" rIns="0" bIns="0" rtlCol="0" anchor="ctr"/>
          <a:lstStyle/>
          <a:p>
            <a:pPr indent="0" marL="0">
              <a:buNone/>
            </a:pPr>
            <a:r>
              <a:rPr lang="en-US" sz="1100" dirty="0">
                <a:solidFill>
                  <a:srgbClr val="374151"/>
                </a:solidFill>
              </a:rPr>
              <a:t>Fit StandardScaler on training set only. Applied transform to test set using training statistics.</a:t>
            </a:r>
            <a:endParaRPr lang="en-US" sz="1100" dirty="0"/>
          </a:p>
        </p:txBody>
      </p:sp>
      <p:sp>
        <p:nvSpPr>
          <p:cNvPr id="21" name="Shape 19"/>
          <p:cNvSpPr/>
          <p:nvPr/>
        </p:nvSpPr>
        <p:spPr>
          <a:xfrm>
            <a:off x="411480" y="2523744"/>
            <a:ext cx="8321040" cy="658368"/>
          </a:xfrm>
          <a:prstGeom prst="roundRect">
            <a:avLst>
              <a:gd name="adj" fmla="val 11111"/>
            </a:avLst>
          </a:prstGeom>
          <a:solidFill>
            <a:srgbClr val="FFFFFF"/>
          </a:solidFill>
          <a:ln/>
          <a:effectLst>
            <a:outerShdw sx="100000" sy="100000" kx="0" ky="0" algn="bl" rotWithShape="0" blurRad="101600" dist="38100" dir="2700000">
              <a:srgbClr val="000000">
                <a:alpha val="12000"/>
              </a:srgbClr>
            </a:outerShdw>
          </a:effectLst>
        </p:spPr>
      </p:sp>
      <p:sp>
        <p:nvSpPr>
          <p:cNvPr id="22" name="Shape 20"/>
          <p:cNvSpPr/>
          <p:nvPr/>
        </p:nvSpPr>
        <p:spPr>
          <a:xfrm>
            <a:off x="566928" y="2624328"/>
            <a:ext cx="438912" cy="438912"/>
          </a:xfrm>
          <a:prstGeom prst="ellipse">
            <a:avLst/>
          </a:prstGeom>
          <a:solidFill>
            <a:srgbClr val="DC2626">
              <a:alpha val="80000"/>
            </a:srgbClr>
          </a:solidFill>
          <a:ln/>
        </p:spPr>
      </p:sp>
      <p:sp>
        <p:nvSpPr>
          <p:cNvPr id="23" name="Text 21"/>
          <p:cNvSpPr/>
          <p:nvPr/>
        </p:nvSpPr>
        <p:spPr>
          <a:xfrm>
            <a:off x="566928" y="2624328"/>
            <a:ext cx="438912" cy="438912"/>
          </a:xfrm>
          <a:prstGeom prst="rect">
            <a:avLst/>
          </a:prstGeom>
          <a:noFill/>
          <a:ln/>
        </p:spPr>
        <p:txBody>
          <a:bodyPr wrap="square" lIns="0" tIns="0" rIns="0" bIns="0" rtlCol="0" anchor="ctr"/>
          <a:lstStyle/>
          <a:p>
            <a:pPr algn="ctr" indent="0" marL="0">
              <a:buNone/>
            </a:pPr>
            <a:r>
              <a:rPr lang="en-US" sz="1600" b="1" dirty="0">
                <a:solidFill>
                  <a:srgbClr val="DC2626"/>
                </a:solidFill>
              </a:rPr>
              <a:t>!</a:t>
            </a:r>
            <a:endParaRPr lang="en-US" sz="1600" dirty="0"/>
          </a:p>
        </p:txBody>
      </p:sp>
      <p:sp>
        <p:nvSpPr>
          <p:cNvPr id="24" name="Text 22"/>
          <p:cNvSpPr/>
          <p:nvPr/>
        </p:nvSpPr>
        <p:spPr>
          <a:xfrm>
            <a:off x="1133856" y="2624328"/>
            <a:ext cx="3200400" cy="438912"/>
          </a:xfrm>
          <a:prstGeom prst="rect">
            <a:avLst/>
          </a:prstGeom>
          <a:noFill/>
          <a:ln/>
        </p:spPr>
        <p:txBody>
          <a:bodyPr wrap="square" lIns="0" tIns="0" rIns="0" bIns="0" rtlCol="0" anchor="ctr"/>
          <a:lstStyle/>
          <a:p>
            <a:pPr indent="0" marL="0">
              <a:buNone/>
            </a:pPr>
            <a:r>
              <a:rPr lang="en-US" sz="1150" b="1" dirty="0">
                <a:solidFill>
                  <a:srgbClr val="0B2545"/>
                </a:solidFill>
              </a:rPr>
              <a:t>Confidential features (V1-V28)</a:t>
            </a:r>
            <a:endParaRPr lang="en-US" sz="1150" dirty="0"/>
          </a:p>
        </p:txBody>
      </p:sp>
      <p:sp>
        <p:nvSpPr>
          <p:cNvPr id="25" name="Shape 23"/>
          <p:cNvSpPr/>
          <p:nvPr/>
        </p:nvSpPr>
        <p:spPr>
          <a:xfrm>
            <a:off x="4462272" y="2852928"/>
            <a:ext cx="9144" cy="274320"/>
          </a:xfrm>
          <a:prstGeom prst="line">
            <a:avLst/>
          </a:prstGeom>
          <a:noFill/>
          <a:ln w="12700">
            <a:solidFill>
              <a:srgbClr val="CBD5E1"/>
            </a:solidFill>
            <a:prstDash val="solid"/>
          </a:ln>
        </p:spPr>
      </p:sp>
      <p:sp>
        <p:nvSpPr>
          <p:cNvPr id="26" name="Shape 24"/>
          <p:cNvSpPr/>
          <p:nvPr/>
        </p:nvSpPr>
        <p:spPr>
          <a:xfrm>
            <a:off x="4617720" y="2624328"/>
            <a:ext cx="438912" cy="438912"/>
          </a:xfrm>
          <a:prstGeom prst="ellipse">
            <a:avLst/>
          </a:prstGeom>
          <a:solidFill>
            <a:srgbClr val="059669">
              <a:alpha val="80000"/>
            </a:srgbClr>
          </a:solidFill>
          <a:ln/>
        </p:spPr>
      </p:sp>
      <p:sp>
        <p:nvSpPr>
          <p:cNvPr id="27" name="Text 25"/>
          <p:cNvSpPr/>
          <p:nvPr/>
        </p:nvSpPr>
        <p:spPr>
          <a:xfrm>
            <a:off x="4617720" y="2624328"/>
            <a:ext cx="438912" cy="438912"/>
          </a:xfrm>
          <a:prstGeom prst="rect">
            <a:avLst/>
          </a:prstGeom>
          <a:noFill/>
          <a:ln/>
        </p:spPr>
        <p:txBody>
          <a:bodyPr wrap="square" lIns="0" tIns="0" rIns="0" bIns="0" rtlCol="0" anchor="ctr"/>
          <a:lstStyle/>
          <a:p>
            <a:pPr algn="ctr" indent="0" marL="0">
              <a:buNone/>
            </a:pPr>
            <a:r>
              <a:rPr lang="en-US" sz="1600" b="1" dirty="0">
                <a:solidFill>
                  <a:srgbClr val="059669"/>
                </a:solidFill>
              </a:rPr>
              <a:t>✓</a:t>
            </a:r>
            <a:endParaRPr lang="en-US" sz="1600" dirty="0"/>
          </a:p>
        </p:txBody>
      </p:sp>
      <p:sp>
        <p:nvSpPr>
          <p:cNvPr id="28" name="Text 26"/>
          <p:cNvSpPr/>
          <p:nvPr/>
        </p:nvSpPr>
        <p:spPr>
          <a:xfrm>
            <a:off x="5166360" y="2624328"/>
            <a:ext cx="3383280" cy="438912"/>
          </a:xfrm>
          <a:prstGeom prst="rect">
            <a:avLst/>
          </a:prstGeom>
          <a:noFill/>
          <a:ln/>
        </p:spPr>
        <p:txBody>
          <a:bodyPr wrap="square" lIns="0" tIns="0" rIns="0" bIns="0" rtlCol="0" anchor="ctr"/>
          <a:lstStyle/>
          <a:p>
            <a:pPr indent="0" marL="0">
              <a:buNone/>
            </a:pPr>
            <a:r>
              <a:rPr lang="en-US" sz="1100" dirty="0">
                <a:solidFill>
                  <a:srgbClr val="374151"/>
                </a:solidFill>
              </a:rPr>
              <a:t>Relied on PCA components as-is. Performed feature importance analysis to identify top signals.</a:t>
            </a:r>
            <a:endParaRPr lang="en-US" sz="1100" dirty="0"/>
          </a:p>
        </p:txBody>
      </p:sp>
      <p:sp>
        <p:nvSpPr>
          <p:cNvPr id="29" name="Shape 27"/>
          <p:cNvSpPr/>
          <p:nvPr/>
        </p:nvSpPr>
        <p:spPr>
          <a:xfrm>
            <a:off x="411480" y="3273552"/>
            <a:ext cx="8321040" cy="658368"/>
          </a:xfrm>
          <a:prstGeom prst="roundRect">
            <a:avLst>
              <a:gd name="adj" fmla="val 11111"/>
            </a:avLst>
          </a:prstGeom>
          <a:solidFill>
            <a:srgbClr val="F0F7FF"/>
          </a:solidFill>
          <a:ln/>
          <a:effectLst>
            <a:outerShdw sx="100000" sy="100000" kx="0" ky="0" algn="bl" rotWithShape="0" blurRad="101600" dist="38100" dir="2700000">
              <a:srgbClr val="000000">
                <a:alpha val="12000"/>
              </a:srgbClr>
            </a:outerShdw>
          </a:effectLst>
        </p:spPr>
      </p:sp>
      <p:sp>
        <p:nvSpPr>
          <p:cNvPr id="30" name="Shape 28"/>
          <p:cNvSpPr/>
          <p:nvPr/>
        </p:nvSpPr>
        <p:spPr>
          <a:xfrm>
            <a:off x="566928" y="3374136"/>
            <a:ext cx="438912" cy="438912"/>
          </a:xfrm>
          <a:prstGeom prst="ellipse">
            <a:avLst/>
          </a:prstGeom>
          <a:solidFill>
            <a:srgbClr val="DC2626">
              <a:alpha val="80000"/>
            </a:srgbClr>
          </a:solidFill>
          <a:ln/>
        </p:spPr>
      </p:sp>
      <p:sp>
        <p:nvSpPr>
          <p:cNvPr id="31" name="Text 29"/>
          <p:cNvSpPr/>
          <p:nvPr/>
        </p:nvSpPr>
        <p:spPr>
          <a:xfrm>
            <a:off x="566928" y="3374136"/>
            <a:ext cx="438912" cy="438912"/>
          </a:xfrm>
          <a:prstGeom prst="rect">
            <a:avLst/>
          </a:prstGeom>
          <a:noFill/>
          <a:ln/>
        </p:spPr>
        <p:txBody>
          <a:bodyPr wrap="square" lIns="0" tIns="0" rIns="0" bIns="0" rtlCol="0" anchor="ctr"/>
          <a:lstStyle/>
          <a:p>
            <a:pPr algn="ctr" indent="0" marL="0">
              <a:buNone/>
            </a:pPr>
            <a:r>
              <a:rPr lang="en-US" sz="1600" b="1" dirty="0">
                <a:solidFill>
                  <a:srgbClr val="DC2626"/>
                </a:solidFill>
              </a:rPr>
              <a:t>!</a:t>
            </a:r>
            <a:endParaRPr lang="en-US" sz="1600" dirty="0"/>
          </a:p>
        </p:txBody>
      </p:sp>
      <p:sp>
        <p:nvSpPr>
          <p:cNvPr id="32" name="Text 30"/>
          <p:cNvSpPr/>
          <p:nvPr/>
        </p:nvSpPr>
        <p:spPr>
          <a:xfrm>
            <a:off x="1133856" y="3374136"/>
            <a:ext cx="3200400" cy="438912"/>
          </a:xfrm>
          <a:prstGeom prst="rect">
            <a:avLst/>
          </a:prstGeom>
          <a:noFill/>
          <a:ln/>
        </p:spPr>
        <p:txBody>
          <a:bodyPr wrap="square" lIns="0" tIns="0" rIns="0" bIns="0" rtlCol="0" anchor="ctr"/>
          <a:lstStyle/>
          <a:p>
            <a:pPr indent="0" marL="0">
              <a:buNone/>
            </a:pPr>
            <a:r>
              <a:rPr lang="en-US" sz="1150" b="1" dirty="0">
                <a:solidFill>
                  <a:srgbClr val="0B2545"/>
                </a:solidFill>
              </a:rPr>
              <a:t>Long training time for RF tuning</a:t>
            </a:r>
            <a:endParaRPr lang="en-US" sz="1150" dirty="0"/>
          </a:p>
        </p:txBody>
      </p:sp>
      <p:sp>
        <p:nvSpPr>
          <p:cNvPr id="33" name="Shape 31"/>
          <p:cNvSpPr/>
          <p:nvPr/>
        </p:nvSpPr>
        <p:spPr>
          <a:xfrm>
            <a:off x="4462272" y="3602736"/>
            <a:ext cx="9144" cy="274320"/>
          </a:xfrm>
          <a:prstGeom prst="line">
            <a:avLst/>
          </a:prstGeom>
          <a:noFill/>
          <a:ln w="12700">
            <a:solidFill>
              <a:srgbClr val="CBD5E1"/>
            </a:solidFill>
            <a:prstDash val="solid"/>
          </a:ln>
        </p:spPr>
      </p:sp>
      <p:sp>
        <p:nvSpPr>
          <p:cNvPr id="34" name="Shape 32"/>
          <p:cNvSpPr/>
          <p:nvPr/>
        </p:nvSpPr>
        <p:spPr>
          <a:xfrm>
            <a:off x="4617720" y="3374136"/>
            <a:ext cx="438912" cy="438912"/>
          </a:xfrm>
          <a:prstGeom prst="ellipse">
            <a:avLst/>
          </a:prstGeom>
          <a:solidFill>
            <a:srgbClr val="059669">
              <a:alpha val="80000"/>
            </a:srgbClr>
          </a:solidFill>
          <a:ln/>
        </p:spPr>
      </p:sp>
      <p:sp>
        <p:nvSpPr>
          <p:cNvPr id="35" name="Text 33"/>
          <p:cNvSpPr/>
          <p:nvPr/>
        </p:nvSpPr>
        <p:spPr>
          <a:xfrm>
            <a:off x="4617720" y="3374136"/>
            <a:ext cx="438912" cy="438912"/>
          </a:xfrm>
          <a:prstGeom prst="rect">
            <a:avLst/>
          </a:prstGeom>
          <a:noFill/>
          <a:ln/>
        </p:spPr>
        <p:txBody>
          <a:bodyPr wrap="square" lIns="0" tIns="0" rIns="0" bIns="0" rtlCol="0" anchor="ctr"/>
          <a:lstStyle/>
          <a:p>
            <a:pPr algn="ctr" indent="0" marL="0">
              <a:buNone/>
            </a:pPr>
            <a:r>
              <a:rPr lang="en-US" sz="1600" b="1" dirty="0">
                <a:solidFill>
                  <a:srgbClr val="059669"/>
                </a:solidFill>
              </a:rPr>
              <a:t>✓</a:t>
            </a:r>
            <a:endParaRPr lang="en-US" sz="1600" dirty="0"/>
          </a:p>
        </p:txBody>
      </p:sp>
      <p:sp>
        <p:nvSpPr>
          <p:cNvPr id="36" name="Text 34"/>
          <p:cNvSpPr/>
          <p:nvPr/>
        </p:nvSpPr>
        <p:spPr>
          <a:xfrm>
            <a:off x="5166360" y="3374136"/>
            <a:ext cx="3383280" cy="438912"/>
          </a:xfrm>
          <a:prstGeom prst="rect">
            <a:avLst/>
          </a:prstGeom>
          <a:noFill/>
          <a:ln/>
        </p:spPr>
        <p:txBody>
          <a:bodyPr wrap="square" lIns="0" tIns="0" rIns="0" bIns="0" rtlCol="0" anchor="ctr"/>
          <a:lstStyle/>
          <a:p>
            <a:pPr indent="0" marL="0">
              <a:buNone/>
            </a:pPr>
            <a:r>
              <a:rPr lang="en-US" sz="1100" dirty="0">
                <a:solidFill>
                  <a:srgbClr val="374151"/>
                </a:solidFill>
              </a:rPr>
              <a:t>Used RandomizedSearchCV (20 iterations) instead of GridSearch. Parallelized with n_jobs=-1.</a:t>
            </a:r>
            <a:endParaRPr lang="en-US" sz="1100" dirty="0"/>
          </a:p>
        </p:txBody>
      </p:sp>
      <p:sp>
        <p:nvSpPr>
          <p:cNvPr id="37" name="Shape 35"/>
          <p:cNvSpPr/>
          <p:nvPr/>
        </p:nvSpPr>
        <p:spPr>
          <a:xfrm>
            <a:off x="411480" y="4023360"/>
            <a:ext cx="8321040" cy="658368"/>
          </a:xfrm>
          <a:prstGeom prst="roundRect">
            <a:avLst>
              <a:gd name="adj" fmla="val 11111"/>
            </a:avLst>
          </a:prstGeom>
          <a:solidFill>
            <a:srgbClr val="FFFFFF"/>
          </a:solidFill>
          <a:ln/>
          <a:effectLst>
            <a:outerShdw sx="100000" sy="100000" kx="0" ky="0" algn="bl" rotWithShape="0" blurRad="101600" dist="38100" dir="2700000">
              <a:srgbClr val="000000">
                <a:alpha val="12000"/>
              </a:srgbClr>
            </a:outerShdw>
          </a:effectLst>
        </p:spPr>
      </p:sp>
      <p:sp>
        <p:nvSpPr>
          <p:cNvPr id="38" name="Shape 36"/>
          <p:cNvSpPr/>
          <p:nvPr/>
        </p:nvSpPr>
        <p:spPr>
          <a:xfrm>
            <a:off x="566928" y="4123944"/>
            <a:ext cx="438912" cy="438912"/>
          </a:xfrm>
          <a:prstGeom prst="ellipse">
            <a:avLst/>
          </a:prstGeom>
          <a:solidFill>
            <a:srgbClr val="DC2626">
              <a:alpha val="80000"/>
            </a:srgbClr>
          </a:solidFill>
          <a:ln/>
        </p:spPr>
      </p:sp>
      <p:sp>
        <p:nvSpPr>
          <p:cNvPr id="39" name="Text 37"/>
          <p:cNvSpPr/>
          <p:nvPr/>
        </p:nvSpPr>
        <p:spPr>
          <a:xfrm>
            <a:off x="566928" y="4123944"/>
            <a:ext cx="438912" cy="438912"/>
          </a:xfrm>
          <a:prstGeom prst="rect">
            <a:avLst/>
          </a:prstGeom>
          <a:noFill/>
          <a:ln/>
        </p:spPr>
        <p:txBody>
          <a:bodyPr wrap="square" lIns="0" tIns="0" rIns="0" bIns="0" rtlCol="0" anchor="ctr"/>
          <a:lstStyle/>
          <a:p>
            <a:pPr algn="ctr" indent="0" marL="0">
              <a:buNone/>
            </a:pPr>
            <a:r>
              <a:rPr lang="en-US" sz="1600" b="1" dirty="0">
                <a:solidFill>
                  <a:srgbClr val="DC2626"/>
                </a:solidFill>
              </a:rPr>
              <a:t>!</a:t>
            </a:r>
            <a:endParaRPr lang="en-US" sz="1600" dirty="0"/>
          </a:p>
        </p:txBody>
      </p:sp>
      <p:sp>
        <p:nvSpPr>
          <p:cNvPr id="40" name="Text 38"/>
          <p:cNvSpPr/>
          <p:nvPr/>
        </p:nvSpPr>
        <p:spPr>
          <a:xfrm>
            <a:off x="1133856" y="4123944"/>
            <a:ext cx="3200400" cy="438912"/>
          </a:xfrm>
          <a:prstGeom prst="rect">
            <a:avLst/>
          </a:prstGeom>
          <a:noFill/>
          <a:ln/>
        </p:spPr>
        <p:txBody>
          <a:bodyPr wrap="square" lIns="0" tIns="0" rIns="0" bIns="0" rtlCol="0" anchor="ctr"/>
          <a:lstStyle/>
          <a:p>
            <a:pPr indent="0" marL="0">
              <a:buNone/>
            </a:pPr>
            <a:r>
              <a:rPr lang="en-US" sz="1150" b="1" dirty="0">
                <a:solidFill>
                  <a:srgbClr val="0B2545"/>
                </a:solidFill>
              </a:rPr>
              <a:t>MLP convergence with imbalance</a:t>
            </a:r>
            <a:endParaRPr lang="en-US" sz="1150" dirty="0"/>
          </a:p>
        </p:txBody>
      </p:sp>
      <p:sp>
        <p:nvSpPr>
          <p:cNvPr id="41" name="Shape 39"/>
          <p:cNvSpPr/>
          <p:nvPr/>
        </p:nvSpPr>
        <p:spPr>
          <a:xfrm>
            <a:off x="4462272" y="4352544"/>
            <a:ext cx="9144" cy="274320"/>
          </a:xfrm>
          <a:prstGeom prst="line">
            <a:avLst/>
          </a:prstGeom>
          <a:noFill/>
          <a:ln w="12700">
            <a:solidFill>
              <a:srgbClr val="CBD5E1"/>
            </a:solidFill>
            <a:prstDash val="solid"/>
          </a:ln>
        </p:spPr>
      </p:sp>
      <p:sp>
        <p:nvSpPr>
          <p:cNvPr id="42" name="Shape 40"/>
          <p:cNvSpPr/>
          <p:nvPr/>
        </p:nvSpPr>
        <p:spPr>
          <a:xfrm>
            <a:off x="4617720" y="4123944"/>
            <a:ext cx="438912" cy="438912"/>
          </a:xfrm>
          <a:prstGeom prst="ellipse">
            <a:avLst/>
          </a:prstGeom>
          <a:solidFill>
            <a:srgbClr val="059669">
              <a:alpha val="80000"/>
            </a:srgbClr>
          </a:solidFill>
          <a:ln/>
        </p:spPr>
      </p:sp>
      <p:sp>
        <p:nvSpPr>
          <p:cNvPr id="43" name="Text 41"/>
          <p:cNvSpPr/>
          <p:nvPr/>
        </p:nvSpPr>
        <p:spPr>
          <a:xfrm>
            <a:off x="4617720" y="4123944"/>
            <a:ext cx="438912" cy="438912"/>
          </a:xfrm>
          <a:prstGeom prst="rect">
            <a:avLst/>
          </a:prstGeom>
          <a:noFill/>
          <a:ln/>
        </p:spPr>
        <p:txBody>
          <a:bodyPr wrap="square" lIns="0" tIns="0" rIns="0" bIns="0" rtlCol="0" anchor="ctr"/>
          <a:lstStyle/>
          <a:p>
            <a:pPr algn="ctr" indent="0" marL="0">
              <a:buNone/>
            </a:pPr>
            <a:r>
              <a:rPr lang="en-US" sz="1600" b="1" dirty="0">
                <a:solidFill>
                  <a:srgbClr val="059669"/>
                </a:solidFill>
              </a:rPr>
              <a:t>✓</a:t>
            </a:r>
            <a:endParaRPr lang="en-US" sz="1600" dirty="0"/>
          </a:p>
        </p:txBody>
      </p:sp>
      <p:sp>
        <p:nvSpPr>
          <p:cNvPr id="44" name="Text 42"/>
          <p:cNvSpPr/>
          <p:nvPr/>
        </p:nvSpPr>
        <p:spPr>
          <a:xfrm>
            <a:off x="5166360" y="4123944"/>
            <a:ext cx="3383280" cy="438912"/>
          </a:xfrm>
          <a:prstGeom prst="rect">
            <a:avLst/>
          </a:prstGeom>
          <a:noFill/>
          <a:ln/>
        </p:spPr>
        <p:txBody>
          <a:bodyPr wrap="square" lIns="0" tIns="0" rIns="0" bIns="0" rtlCol="0" anchor="ctr"/>
          <a:lstStyle/>
          <a:p>
            <a:pPr indent="0" marL="0">
              <a:buNone/>
            </a:pPr>
            <a:r>
              <a:rPr lang="en-US" sz="1100" dirty="0">
                <a:solidFill>
                  <a:srgbClr val="374151"/>
                </a:solidFill>
              </a:rPr>
              <a:t>Used early stopping with validation_fraction=0.1. Tuned max_iter and hidden layer sizes.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1463040" cy="274320"/>
          </a:xfrm>
          <a:prstGeom prst="roundRect">
            <a:avLst>
              <a:gd name="adj" fmla="val 13333"/>
            </a:avLst>
          </a:prstGeom>
          <a:solidFill>
            <a:srgbClr val="0096C7">
              <a:alpha val="85000"/>
            </a:srgbClr>
          </a:solidFill>
          <a:ln/>
        </p:spPr>
      </p:sp>
      <p:sp>
        <p:nvSpPr>
          <p:cNvPr id="3" name="Text 1"/>
          <p:cNvSpPr/>
          <p:nvPr/>
        </p:nvSpPr>
        <p:spPr>
          <a:xfrm>
            <a:off x="457200" y="201168"/>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rPr>
              <a:t>DEMO</a:t>
            </a:r>
            <a:endParaRPr lang="en-US" sz="900" dirty="0"/>
          </a:p>
        </p:txBody>
      </p:sp>
      <p:sp>
        <p:nvSpPr>
          <p:cNvPr id="4" name="Text 2"/>
          <p:cNvSpPr/>
          <p:nvPr/>
        </p:nvSpPr>
        <p:spPr>
          <a:xfrm>
            <a:off x="457200" y="201168"/>
            <a:ext cx="8229600" cy="594360"/>
          </a:xfrm>
          <a:prstGeom prst="rect">
            <a:avLst/>
          </a:prstGeom>
          <a:noFill/>
          <a:ln/>
        </p:spPr>
        <p:txBody>
          <a:bodyPr wrap="square" lIns="0" tIns="0" rIns="0" bIns="0" rtlCol="0" anchor="ctr"/>
          <a:lstStyle/>
          <a:p>
            <a:pPr algn="l" indent="0" marL="0">
              <a:buNone/>
            </a:pPr>
            <a:r>
              <a:rPr lang="en-US" sz="2800" b="1" dirty="0">
                <a:solidFill>
                  <a:srgbClr val="0B2545"/>
                </a:solidFill>
                <a:latin typeface="Calibri" pitchFamily="34" charset="0"/>
                <a:ea typeface="Calibri" pitchFamily="34" charset="-122"/>
                <a:cs typeface="Calibri" pitchFamily="34" charset="-120"/>
              </a:rPr>
              <a:t>Live Demo — System in Action</a:t>
            </a:r>
            <a:endParaRPr lang="en-US" sz="2800" dirty="0"/>
          </a:p>
        </p:txBody>
      </p:sp>
      <p:sp>
        <p:nvSpPr>
          <p:cNvPr id="5" name="Shape 3"/>
          <p:cNvSpPr/>
          <p:nvPr/>
        </p:nvSpPr>
        <p:spPr>
          <a:xfrm>
            <a:off x="411480" y="1024128"/>
            <a:ext cx="8321040" cy="54864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548640" y="1097280"/>
            <a:ext cx="402336" cy="402336"/>
          </a:xfrm>
          <a:prstGeom prst="ellipse">
            <a:avLst/>
          </a:prstGeom>
          <a:solidFill>
            <a:srgbClr val="065A82"/>
          </a:solidFill>
          <a:ln/>
        </p:spPr>
      </p:sp>
      <p:sp>
        <p:nvSpPr>
          <p:cNvPr id="7" name="Text 5"/>
          <p:cNvSpPr/>
          <p:nvPr/>
        </p:nvSpPr>
        <p:spPr>
          <a:xfrm>
            <a:off x="548640" y="10972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078992" y="1078992"/>
            <a:ext cx="3200400" cy="256032"/>
          </a:xfrm>
          <a:prstGeom prst="rect">
            <a:avLst/>
          </a:prstGeom>
          <a:noFill/>
          <a:ln/>
        </p:spPr>
        <p:txBody>
          <a:bodyPr wrap="square" lIns="0" tIns="0" rIns="0" bIns="0" rtlCol="0" anchor="ctr"/>
          <a:lstStyle/>
          <a:p>
            <a:pPr indent="0" marL="0">
              <a:buNone/>
            </a:pPr>
            <a:r>
              <a:rPr lang="en-US" sz="1050" b="1" dirty="0">
                <a:solidFill>
                  <a:srgbClr val="1C7293"/>
                </a:solidFill>
                <a:latin typeface="Courier New" pitchFamily="34" charset="0"/>
                <a:ea typeface="Courier New" pitchFamily="34" charset="-122"/>
                <a:cs typeface="Courier New" pitchFamily="34" charset="-120"/>
              </a:rPr>
              <a:t>python src/eda.py</a:t>
            </a:r>
            <a:endParaRPr lang="en-US" sz="1050" dirty="0"/>
          </a:p>
        </p:txBody>
      </p:sp>
      <p:sp>
        <p:nvSpPr>
          <p:cNvPr id="9" name="Text 7"/>
          <p:cNvSpPr/>
          <p:nvPr/>
        </p:nvSpPr>
        <p:spPr>
          <a:xfrm>
            <a:off x="1078992" y="1316736"/>
            <a:ext cx="7406640" cy="201168"/>
          </a:xfrm>
          <a:prstGeom prst="rect">
            <a:avLst/>
          </a:prstGeom>
          <a:noFill/>
          <a:ln/>
        </p:spPr>
        <p:txBody>
          <a:bodyPr wrap="square" lIns="0" tIns="0" rIns="0" bIns="0" rtlCol="0" anchor="t"/>
          <a:lstStyle/>
          <a:p>
            <a:pPr indent="0" marL="0">
              <a:buNone/>
            </a:pPr>
            <a:r>
              <a:rPr lang="en-US" sz="950" dirty="0">
                <a:solidFill>
                  <a:srgbClr val="64748B"/>
                </a:solidFill>
              </a:rPr>
              <a:t>EDA: prints class stats, saves class_distribution.png + amount_distribution.png</a:t>
            </a:r>
            <a:endParaRPr lang="en-US" sz="950" dirty="0"/>
          </a:p>
        </p:txBody>
      </p:sp>
      <p:sp>
        <p:nvSpPr>
          <p:cNvPr id="10" name="Shape 8"/>
          <p:cNvSpPr/>
          <p:nvPr/>
        </p:nvSpPr>
        <p:spPr>
          <a:xfrm>
            <a:off x="411480" y="1664208"/>
            <a:ext cx="8321040" cy="548640"/>
          </a:xfrm>
          <a:prstGeom prst="roundRect">
            <a:avLst>
              <a:gd name="adj" fmla="val 13333"/>
            </a:avLst>
          </a:prstGeom>
          <a:solidFill>
            <a:srgbClr val="F0F7FF"/>
          </a:solidFill>
          <a:ln/>
          <a:effectLst>
            <a:outerShdw sx="100000" sy="100000" kx="0" ky="0" algn="bl" rotWithShape="0" blurRad="101600" dist="38100" dir="2700000">
              <a:srgbClr val="000000">
                <a:alpha val="12000"/>
              </a:srgbClr>
            </a:outerShdw>
          </a:effectLst>
        </p:spPr>
      </p:sp>
      <p:sp>
        <p:nvSpPr>
          <p:cNvPr id="11" name="Shape 9"/>
          <p:cNvSpPr/>
          <p:nvPr/>
        </p:nvSpPr>
        <p:spPr>
          <a:xfrm>
            <a:off x="548640" y="1737360"/>
            <a:ext cx="402336" cy="402336"/>
          </a:xfrm>
          <a:prstGeom prst="ellipse">
            <a:avLst/>
          </a:prstGeom>
          <a:solidFill>
            <a:srgbClr val="065A82"/>
          </a:solidFill>
          <a:ln/>
        </p:spPr>
      </p:sp>
      <p:sp>
        <p:nvSpPr>
          <p:cNvPr id="12" name="Text 10"/>
          <p:cNvSpPr/>
          <p:nvPr/>
        </p:nvSpPr>
        <p:spPr>
          <a:xfrm>
            <a:off x="548640" y="1737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p:nvPr/>
        </p:nvSpPr>
        <p:spPr>
          <a:xfrm>
            <a:off x="1078992" y="1719072"/>
            <a:ext cx="3200400" cy="256032"/>
          </a:xfrm>
          <a:prstGeom prst="rect">
            <a:avLst/>
          </a:prstGeom>
          <a:noFill/>
          <a:ln/>
        </p:spPr>
        <p:txBody>
          <a:bodyPr wrap="square" lIns="0" tIns="0" rIns="0" bIns="0" rtlCol="0" anchor="ctr"/>
          <a:lstStyle/>
          <a:p>
            <a:pPr indent="0" marL="0">
              <a:buNone/>
            </a:pPr>
            <a:r>
              <a:rPr lang="en-US" sz="1050" b="1" dirty="0">
                <a:solidFill>
                  <a:srgbClr val="1C7293"/>
                </a:solidFill>
                <a:latin typeface="Courier New" pitchFamily="34" charset="0"/>
                <a:ea typeface="Courier New" pitchFamily="34" charset="-122"/>
                <a:cs typeface="Courier New" pitchFamily="34" charset="-120"/>
              </a:rPr>
              <a:t>python src/train.py</a:t>
            </a:r>
            <a:endParaRPr lang="en-US" sz="1050" dirty="0"/>
          </a:p>
        </p:txBody>
      </p:sp>
      <p:sp>
        <p:nvSpPr>
          <p:cNvPr id="14" name="Text 12"/>
          <p:cNvSpPr/>
          <p:nvPr/>
        </p:nvSpPr>
        <p:spPr>
          <a:xfrm>
            <a:off x="1078992" y="1956816"/>
            <a:ext cx="7406640" cy="201168"/>
          </a:xfrm>
          <a:prstGeom prst="rect">
            <a:avLst/>
          </a:prstGeom>
          <a:noFill/>
          <a:ln/>
        </p:spPr>
        <p:txBody>
          <a:bodyPr wrap="square" lIns="0" tIns="0" rIns="0" bIns="0" rtlCol="0" anchor="t"/>
          <a:lstStyle/>
          <a:p>
            <a:pPr indent="0" marL="0">
              <a:buNone/>
            </a:pPr>
            <a:r>
              <a:rPr lang="en-US" sz="950" dirty="0">
                <a:solidFill>
                  <a:srgbClr val="64748B"/>
                </a:solidFill>
              </a:rPr>
              <a:t>Trains 5 models + tunes RF. Prints 5-fold CV F1 per model. Saves .joblib files.</a:t>
            </a:r>
            <a:endParaRPr lang="en-US" sz="950" dirty="0"/>
          </a:p>
        </p:txBody>
      </p:sp>
      <p:sp>
        <p:nvSpPr>
          <p:cNvPr id="15" name="Shape 13"/>
          <p:cNvSpPr/>
          <p:nvPr/>
        </p:nvSpPr>
        <p:spPr>
          <a:xfrm>
            <a:off x="411480" y="2304288"/>
            <a:ext cx="8321040" cy="54864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6" name="Shape 14"/>
          <p:cNvSpPr/>
          <p:nvPr/>
        </p:nvSpPr>
        <p:spPr>
          <a:xfrm>
            <a:off x="548640" y="2377440"/>
            <a:ext cx="402336" cy="402336"/>
          </a:xfrm>
          <a:prstGeom prst="ellipse">
            <a:avLst/>
          </a:prstGeom>
          <a:solidFill>
            <a:srgbClr val="065A82"/>
          </a:solidFill>
          <a:ln/>
        </p:spPr>
      </p:sp>
      <p:sp>
        <p:nvSpPr>
          <p:cNvPr id="17" name="Text 15"/>
          <p:cNvSpPr/>
          <p:nvPr/>
        </p:nvSpPr>
        <p:spPr>
          <a:xfrm>
            <a:off x="548640" y="23774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p:nvPr/>
        </p:nvSpPr>
        <p:spPr>
          <a:xfrm>
            <a:off x="1078992" y="2359152"/>
            <a:ext cx="3200400" cy="256032"/>
          </a:xfrm>
          <a:prstGeom prst="rect">
            <a:avLst/>
          </a:prstGeom>
          <a:noFill/>
          <a:ln/>
        </p:spPr>
        <p:txBody>
          <a:bodyPr wrap="square" lIns="0" tIns="0" rIns="0" bIns="0" rtlCol="0" anchor="ctr"/>
          <a:lstStyle/>
          <a:p>
            <a:pPr indent="0" marL="0">
              <a:buNone/>
            </a:pPr>
            <a:r>
              <a:rPr lang="en-US" sz="1050" b="1" dirty="0">
                <a:solidFill>
                  <a:srgbClr val="1C7293"/>
                </a:solidFill>
                <a:latin typeface="Courier New" pitchFamily="34" charset="0"/>
                <a:ea typeface="Courier New" pitchFamily="34" charset="-122"/>
                <a:cs typeface="Courier New" pitchFamily="34" charset="-120"/>
              </a:rPr>
              <a:t>python src/evaluate.py</a:t>
            </a:r>
            <a:endParaRPr lang="en-US" sz="1050" dirty="0"/>
          </a:p>
        </p:txBody>
      </p:sp>
      <p:sp>
        <p:nvSpPr>
          <p:cNvPr id="19" name="Text 17"/>
          <p:cNvSpPr/>
          <p:nvPr/>
        </p:nvSpPr>
        <p:spPr>
          <a:xfrm>
            <a:off x="1078992" y="2596896"/>
            <a:ext cx="7406640" cy="201168"/>
          </a:xfrm>
          <a:prstGeom prst="rect">
            <a:avLst/>
          </a:prstGeom>
          <a:noFill/>
          <a:ln/>
        </p:spPr>
        <p:txBody>
          <a:bodyPr wrap="square" lIns="0" tIns="0" rIns="0" bIns="0" rtlCol="0" anchor="t"/>
          <a:lstStyle/>
          <a:p>
            <a:pPr indent="0" marL="0">
              <a:buNone/>
            </a:pPr>
            <a:r>
              <a:rPr lang="en-US" sz="950" dirty="0">
                <a:solidFill>
                  <a:srgbClr val="64748B"/>
                </a:solidFill>
              </a:rPr>
              <a:t>Loads models, evaluates on test set. Saves confusion matrices + model_comparison.csv.</a:t>
            </a:r>
            <a:endParaRPr lang="en-US" sz="950" dirty="0"/>
          </a:p>
        </p:txBody>
      </p:sp>
      <p:sp>
        <p:nvSpPr>
          <p:cNvPr id="20" name="Shape 18"/>
          <p:cNvSpPr/>
          <p:nvPr/>
        </p:nvSpPr>
        <p:spPr>
          <a:xfrm>
            <a:off x="411480" y="2944368"/>
            <a:ext cx="8321040" cy="548640"/>
          </a:xfrm>
          <a:prstGeom prst="roundRect">
            <a:avLst>
              <a:gd name="adj" fmla="val 13333"/>
            </a:avLst>
          </a:prstGeom>
          <a:solidFill>
            <a:srgbClr val="F0F7FF"/>
          </a:solidFill>
          <a:ln/>
          <a:effectLst>
            <a:outerShdw sx="100000" sy="100000" kx="0" ky="0" algn="bl" rotWithShape="0" blurRad="101600" dist="38100" dir="2700000">
              <a:srgbClr val="000000">
                <a:alpha val="12000"/>
              </a:srgbClr>
            </a:outerShdw>
          </a:effectLst>
        </p:spPr>
      </p:sp>
      <p:sp>
        <p:nvSpPr>
          <p:cNvPr id="21" name="Shape 19"/>
          <p:cNvSpPr/>
          <p:nvPr/>
        </p:nvSpPr>
        <p:spPr>
          <a:xfrm>
            <a:off x="548640" y="3017520"/>
            <a:ext cx="402336" cy="402336"/>
          </a:xfrm>
          <a:prstGeom prst="ellipse">
            <a:avLst/>
          </a:prstGeom>
          <a:solidFill>
            <a:srgbClr val="065A82"/>
          </a:solidFill>
          <a:ln/>
        </p:spPr>
      </p:sp>
      <p:sp>
        <p:nvSpPr>
          <p:cNvPr id="22" name="Text 20"/>
          <p:cNvSpPr/>
          <p:nvPr/>
        </p:nvSpPr>
        <p:spPr>
          <a:xfrm>
            <a:off x="548640" y="3017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1"/>
          <p:cNvSpPr/>
          <p:nvPr/>
        </p:nvSpPr>
        <p:spPr>
          <a:xfrm>
            <a:off x="1078992" y="2999232"/>
            <a:ext cx="3200400" cy="256032"/>
          </a:xfrm>
          <a:prstGeom prst="rect">
            <a:avLst/>
          </a:prstGeom>
          <a:noFill/>
          <a:ln/>
        </p:spPr>
        <p:txBody>
          <a:bodyPr wrap="square" lIns="0" tIns="0" rIns="0" bIns="0" rtlCol="0" anchor="ctr"/>
          <a:lstStyle/>
          <a:p>
            <a:pPr indent="0" marL="0">
              <a:buNone/>
            </a:pPr>
            <a:r>
              <a:rPr lang="en-US" sz="1050" b="1" dirty="0">
                <a:solidFill>
                  <a:srgbClr val="1C7293"/>
                </a:solidFill>
                <a:latin typeface="Courier New" pitchFamily="34" charset="0"/>
                <a:ea typeface="Courier New" pitchFamily="34" charset="-122"/>
                <a:cs typeface="Courier New" pitchFamily="34" charset="-120"/>
              </a:rPr>
              <a:t>python src/visualize.py</a:t>
            </a:r>
            <a:endParaRPr lang="en-US" sz="1050" dirty="0"/>
          </a:p>
        </p:txBody>
      </p:sp>
      <p:sp>
        <p:nvSpPr>
          <p:cNvPr id="24" name="Text 22"/>
          <p:cNvSpPr/>
          <p:nvPr/>
        </p:nvSpPr>
        <p:spPr>
          <a:xfrm>
            <a:off x="1078992" y="3236976"/>
            <a:ext cx="7406640" cy="201168"/>
          </a:xfrm>
          <a:prstGeom prst="rect">
            <a:avLst/>
          </a:prstGeom>
          <a:noFill/>
          <a:ln/>
        </p:spPr>
        <p:txBody>
          <a:bodyPr wrap="square" lIns="0" tIns="0" rIns="0" bIns="0" rtlCol="0" anchor="t"/>
          <a:lstStyle/>
          <a:p>
            <a:pPr indent="0" marL="0">
              <a:buNone/>
            </a:pPr>
            <a:r>
              <a:rPr lang="en-US" sz="950" dirty="0">
                <a:solidFill>
                  <a:srgbClr val="64748B"/>
                </a:solidFill>
              </a:rPr>
              <a:t>Generates ROC curves, heatmap, bar chart, t-SNE. Saved to reports/figures/.</a:t>
            </a:r>
            <a:endParaRPr lang="en-US" sz="950" dirty="0"/>
          </a:p>
        </p:txBody>
      </p:sp>
      <p:sp>
        <p:nvSpPr>
          <p:cNvPr id="25" name="Shape 23"/>
          <p:cNvSpPr/>
          <p:nvPr/>
        </p:nvSpPr>
        <p:spPr>
          <a:xfrm>
            <a:off x="411480" y="3584448"/>
            <a:ext cx="8321040" cy="54864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26" name="Shape 24"/>
          <p:cNvSpPr/>
          <p:nvPr/>
        </p:nvSpPr>
        <p:spPr>
          <a:xfrm>
            <a:off x="548640" y="3657600"/>
            <a:ext cx="402336" cy="402336"/>
          </a:xfrm>
          <a:prstGeom prst="ellipse">
            <a:avLst/>
          </a:prstGeom>
          <a:solidFill>
            <a:srgbClr val="065A82"/>
          </a:solidFill>
          <a:ln/>
        </p:spPr>
      </p:sp>
      <p:sp>
        <p:nvSpPr>
          <p:cNvPr id="27" name="Text 25"/>
          <p:cNvSpPr/>
          <p:nvPr/>
        </p:nvSpPr>
        <p:spPr>
          <a:xfrm>
            <a:off x="548640" y="36576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8" name="Text 26"/>
          <p:cNvSpPr/>
          <p:nvPr/>
        </p:nvSpPr>
        <p:spPr>
          <a:xfrm>
            <a:off x="1078992" y="3639312"/>
            <a:ext cx="3200400" cy="256032"/>
          </a:xfrm>
          <a:prstGeom prst="rect">
            <a:avLst/>
          </a:prstGeom>
          <a:noFill/>
          <a:ln/>
        </p:spPr>
        <p:txBody>
          <a:bodyPr wrap="square" lIns="0" tIns="0" rIns="0" bIns="0" rtlCol="0" anchor="ctr"/>
          <a:lstStyle/>
          <a:p>
            <a:pPr indent="0" marL="0">
              <a:buNone/>
            </a:pPr>
            <a:r>
              <a:rPr lang="en-US" sz="1050" b="1" dirty="0">
                <a:solidFill>
                  <a:srgbClr val="1C7293"/>
                </a:solidFill>
                <a:latin typeface="Courier New" pitchFamily="34" charset="0"/>
                <a:ea typeface="Courier New" pitchFamily="34" charset="-122"/>
                <a:cs typeface="Courier New" pitchFamily="34" charset="-120"/>
              </a:rPr>
              <a:t>python src/demo.py</a:t>
            </a:r>
            <a:endParaRPr lang="en-US" sz="1050" dirty="0"/>
          </a:p>
        </p:txBody>
      </p:sp>
      <p:sp>
        <p:nvSpPr>
          <p:cNvPr id="29" name="Text 27"/>
          <p:cNvSpPr/>
          <p:nvPr/>
        </p:nvSpPr>
        <p:spPr>
          <a:xfrm>
            <a:off x="1078992" y="3877056"/>
            <a:ext cx="7406640" cy="201168"/>
          </a:xfrm>
          <a:prstGeom prst="rect">
            <a:avLst/>
          </a:prstGeom>
          <a:noFill/>
          <a:ln/>
        </p:spPr>
        <p:txBody>
          <a:bodyPr wrap="square" lIns="0" tIns="0" rIns="0" bIns="0" rtlCol="0" anchor="t"/>
          <a:lstStyle/>
          <a:p>
            <a:pPr indent="0" marL="0">
              <a:buNone/>
            </a:pPr>
            <a:r>
              <a:rPr lang="en-US" sz="950" dirty="0">
                <a:solidFill>
                  <a:srgbClr val="64748B"/>
                </a:solidFill>
              </a:rPr>
              <a:t>Loads best model. Runs on 5 random test rows. Shows predicted vs actual + P(fraud).</a:t>
            </a:r>
            <a:endParaRPr lang="en-US" sz="950" dirty="0"/>
          </a:p>
        </p:txBody>
      </p:sp>
      <p:sp>
        <p:nvSpPr>
          <p:cNvPr id="30" name="Shape 28"/>
          <p:cNvSpPr/>
          <p:nvPr/>
        </p:nvSpPr>
        <p:spPr>
          <a:xfrm>
            <a:off x="411480" y="4224528"/>
            <a:ext cx="8321040" cy="548640"/>
          </a:xfrm>
          <a:prstGeom prst="roundRect">
            <a:avLst>
              <a:gd name="adj" fmla="val 13333"/>
            </a:avLst>
          </a:prstGeom>
          <a:solidFill>
            <a:srgbClr val="F0F7FF"/>
          </a:solidFill>
          <a:ln/>
          <a:effectLst>
            <a:outerShdw sx="100000" sy="100000" kx="0" ky="0" algn="bl" rotWithShape="0" blurRad="101600" dist="38100" dir="2700000">
              <a:srgbClr val="000000">
                <a:alpha val="12000"/>
              </a:srgbClr>
            </a:outerShdw>
          </a:effectLst>
        </p:spPr>
      </p:sp>
      <p:sp>
        <p:nvSpPr>
          <p:cNvPr id="31" name="Shape 29"/>
          <p:cNvSpPr/>
          <p:nvPr/>
        </p:nvSpPr>
        <p:spPr>
          <a:xfrm>
            <a:off x="548640" y="4297680"/>
            <a:ext cx="402336" cy="402336"/>
          </a:xfrm>
          <a:prstGeom prst="ellipse">
            <a:avLst/>
          </a:prstGeom>
          <a:solidFill>
            <a:srgbClr val="065A82"/>
          </a:solidFill>
          <a:ln/>
        </p:spPr>
      </p:sp>
      <p:sp>
        <p:nvSpPr>
          <p:cNvPr id="32" name="Text 30"/>
          <p:cNvSpPr/>
          <p:nvPr/>
        </p:nvSpPr>
        <p:spPr>
          <a:xfrm>
            <a:off x="548640" y="4297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3" name="Text 31"/>
          <p:cNvSpPr/>
          <p:nvPr/>
        </p:nvSpPr>
        <p:spPr>
          <a:xfrm>
            <a:off x="1078992" y="4279392"/>
            <a:ext cx="3200400" cy="256032"/>
          </a:xfrm>
          <a:prstGeom prst="rect">
            <a:avLst/>
          </a:prstGeom>
          <a:noFill/>
          <a:ln/>
        </p:spPr>
        <p:txBody>
          <a:bodyPr wrap="square" lIns="0" tIns="0" rIns="0" bIns="0" rtlCol="0" anchor="ctr"/>
          <a:lstStyle/>
          <a:p>
            <a:pPr indent="0" marL="0">
              <a:buNone/>
            </a:pPr>
            <a:r>
              <a:rPr lang="en-US" sz="1050" b="1" dirty="0">
                <a:solidFill>
                  <a:srgbClr val="1C7293"/>
                </a:solidFill>
                <a:latin typeface="Courier New" pitchFamily="34" charset="0"/>
                <a:ea typeface="Courier New" pitchFamily="34" charset="-122"/>
                <a:cs typeface="Courier New" pitchFamily="34" charset="-120"/>
              </a:rPr>
              <a:t>pytest tests/ --cov=src</a:t>
            </a:r>
            <a:endParaRPr lang="en-US" sz="1050" dirty="0"/>
          </a:p>
        </p:txBody>
      </p:sp>
      <p:sp>
        <p:nvSpPr>
          <p:cNvPr id="34" name="Text 32"/>
          <p:cNvSpPr/>
          <p:nvPr/>
        </p:nvSpPr>
        <p:spPr>
          <a:xfrm>
            <a:off x="1078992" y="4517136"/>
            <a:ext cx="7406640" cy="201168"/>
          </a:xfrm>
          <a:prstGeom prst="rect">
            <a:avLst/>
          </a:prstGeom>
          <a:noFill/>
          <a:ln/>
        </p:spPr>
        <p:txBody>
          <a:bodyPr wrap="square" lIns="0" tIns="0" rIns="0" bIns="0" rtlCol="0" anchor="t"/>
          <a:lstStyle/>
          <a:p>
            <a:pPr indent="0" marL="0">
              <a:buNone/>
            </a:pPr>
            <a:r>
              <a:rPr lang="en-US" sz="950" dirty="0">
                <a:solidFill>
                  <a:srgbClr val="64748B"/>
                </a:solidFill>
              </a:rPr>
              <a:t>Runs 25 unit tests. Reports code coverage. All tests should pass.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Conclusion &amp; Future Work</a:t>
            </a:r>
            <a:endParaRPr lang="en-US" sz="2800" dirty="0"/>
          </a:p>
        </p:txBody>
      </p:sp>
      <p:sp>
        <p:nvSpPr>
          <p:cNvPr id="3" name="Shape 1"/>
          <p:cNvSpPr/>
          <p:nvPr/>
        </p:nvSpPr>
        <p:spPr>
          <a:xfrm>
            <a:off x="457200" y="932688"/>
            <a:ext cx="3657600" cy="36576"/>
          </a:xfrm>
          <a:prstGeom prst="rect">
            <a:avLst/>
          </a:prstGeom>
          <a:solidFill>
            <a:srgbClr val="0096C7"/>
          </a:solidFill>
          <a:ln/>
        </p:spPr>
      </p:sp>
      <p:sp>
        <p:nvSpPr>
          <p:cNvPr id="4" name="Shape 2"/>
          <p:cNvSpPr/>
          <p:nvPr/>
        </p:nvSpPr>
        <p:spPr>
          <a:xfrm>
            <a:off x="411480" y="1078992"/>
            <a:ext cx="4023360" cy="3246120"/>
          </a:xfrm>
          <a:prstGeom prst="roundRect">
            <a:avLst>
              <a:gd name="adj" fmla="val 2254"/>
            </a:avLst>
          </a:prstGeom>
          <a:solidFill>
            <a:srgbClr val="0D2E47"/>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188720"/>
            <a:ext cx="3657600" cy="320040"/>
          </a:xfrm>
          <a:prstGeom prst="rect">
            <a:avLst/>
          </a:prstGeom>
          <a:noFill/>
          <a:ln/>
        </p:spPr>
        <p:txBody>
          <a:bodyPr wrap="square" lIns="0" tIns="0" rIns="0" bIns="0" rtlCol="0" anchor="ctr"/>
          <a:lstStyle/>
          <a:p>
            <a:pPr indent="0" marL="0">
              <a:buNone/>
            </a:pPr>
            <a:r>
              <a:rPr lang="en-US" sz="1300" b="1" dirty="0">
                <a:solidFill>
                  <a:srgbClr val="0096C7"/>
                </a:solidFill>
              </a:rPr>
              <a:t>What We Achieved</a:t>
            </a:r>
            <a:endParaRPr lang="en-US" sz="1300" dirty="0"/>
          </a:p>
        </p:txBody>
      </p:sp>
      <p:sp>
        <p:nvSpPr>
          <p:cNvPr id="6" name="Text 4"/>
          <p:cNvSpPr/>
          <p:nvPr/>
        </p:nvSpPr>
        <p:spPr>
          <a:xfrm>
            <a:off x="594360" y="1572768"/>
            <a:ext cx="3657600" cy="2606040"/>
          </a:xfrm>
          <a:prstGeom prst="rect">
            <a:avLst/>
          </a:prstGeom>
          <a:noFill/>
          <a:ln/>
        </p:spPr>
        <p:txBody>
          <a:bodyPr wrap="square" rtlCol="0" anchor="ctr"/>
          <a:lstStyle/>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5-model comparative study on 284K transactions</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Tuned RF achieves F1 ~0.88, AUC ~0.98</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Zero data leakage — rigorous preprocessing</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25 unit tests, 60%+ code coverage</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8 visualizations generated</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Full reproducible pipeline</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10-paper literature review</a:t>
            </a:r>
            <a:endParaRPr lang="en-US" sz="1400" dirty="0"/>
          </a:p>
        </p:txBody>
      </p:sp>
      <p:sp>
        <p:nvSpPr>
          <p:cNvPr id="7" name="Shape 5"/>
          <p:cNvSpPr/>
          <p:nvPr/>
        </p:nvSpPr>
        <p:spPr>
          <a:xfrm>
            <a:off x="4663440" y="1078992"/>
            <a:ext cx="4069080" cy="3246120"/>
          </a:xfrm>
          <a:prstGeom prst="roundRect">
            <a:avLst>
              <a:gd name="adj" fmla="val 2254"/>
            </a:avLst>
          </a:prstGeom>
          <a:solidFill>
            <a:srgbClr val="0D2E47"/>
          </a:solidFill>
          <a:ln/>
          <a:effectLst>
            <a:outerShdw sx="100000" sy="100000" kx="0" ky="0" algn="bl" rotWithShape="0" blurRad="101600" dist="38100" dir="2700000">
              <a:srgbClr val="000000">
                <a:alpha val="12000"/>
              </a:srgbClr>
            </a:outerShdw>
          </a:effectLst>
        </p:spPr>
      </p:sp>
      <p:sp>
        <p:nvSpPr>
          <p:cNvPr id="8" name="Text 6"/>
          <p:cNvSpPr/>
          <p:nvPr/>
        </p:nvSpPr>
        <p:spPr>
          <a:xfrm>
            <a:off x="4846320" y="1188720"/>
            <a:ext cx="3703320" cy="320040"/>
          </a:xfrm>
          <a:prstGeom prst="rect">
            <a:avLst/>
          </a:prstGeom>
          <a:noFill/>
          <a:ln/>
        </p:spPr>
        <p:txBody>
          <a:bodyPr wrap="square" lIns="0" tIns="0" rIns="0" bIns="0" rtlCol="0" anchor="ctr"/>
          <a:lstStyle/>
          <a:p>
            <a:pPr indent="0" marL="0">
              <a:buNone/>
            </a:pPr>
            <a:r>
              <a:rPr lang="en-US" sz="1300" b="1" dirty="0">
                <a:solidFill>
                  <a:srgbClr val="0096C7"/>
                </a:solidFill>
              </a:rPr>
              <a:t>Future Work</a:t>
            </a:r>
            <a:endParaRPr lang="en-US" sz="1300" dirty="0"/>
          </a:p>
        </p:txBody>
      </p:sp>
      <p:sp>
        <p:nvSpPr>
          <p:cNvPr id="9" name="Text 7"/>
          <p:cNvSpPr/>
          <p:nvPr/>
        </p:nvSpPr>
        <p:spPr>
          <a:xfrm>
            <a:off x="4846320" y="1572768"/>
            <a:ext cx="3703320" cy="2606040"/>
          </a:xfrm>
          <a:prstGeom prst="rect">
            <a:avLst/>
          </a:prstGeom>
          <a:noFill/>
          <a:ln/>
        </p:spPr>
        <p:txBody>
          <a:bodyPr wrap="square" rtlCol="0" anchor="ctr"/>
          <a:lstStyle/>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Temporal train/test split (concept drift)</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SHAP explanations per transaction</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Autoencoder for unsupervised detection</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Cost-sensitive learning (FN vs FP cost)</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REST API + Docker containerization</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Real-time streaming pipeline (Kafka)</a:t>
            </a:r>
            <a:endParaRPr lang="en-US" sz="1400" dirty="0"/>
          </a:p>
          <a:p>
            <a:pPr marL="342900" indent="-342900">
              <a:spcAft>
                <a:spcPts val="300"/>
              </a:spcAft>
              <a:buSzPct val="100000"/>
              <a:buChar char="•"/>
            </a:pPr>
            <a:r>
              <a:rPr lang="en-US" sz="1400" dirty="0">
                <a:solidFill>
                  <a:srgbClr val="1E293B"/>
                </a:solidFill>
                <a:latin typeface="Calibri" pitchFamily="34" charset="0"/>
                <a:ea typeface="Calibri" pitchFamily="34" charset="-122"/>
                <a:cs typeface="Calibri" pitchFamily="34" charset="-120"/>
              </a:rPr>
              <a:t>Federated learning across banks</a:t>
            </a:r>
            <a:endParaRPr lang="en-US" sz="1400" dirty="0"/>
          </a:p>
        </p:txBody>
      </p:sp>
      <p:sp>
        <p:nvSpPr>
          <p:cNvPr id="10" name="Text 8"/>
          <p:cNvSpPr/>
          <p:nvPr/>
        </p:nvSpPr>
        <p:spPr>
          <a:xfrm>
            <a:off x="411480" y="4526280"/>
            <a:ext cx="8321040" cy="502920"/>
          </a:xfrm>
          <a:prstGeom prst="rect">
            <a:avLst/>
          </a:prstGeom>
          <a:noFill/>
          <a:ln/>
        </p:spPr>
        <p:txBody>
          <a:bodyPr wrap="square" rtlCol="0" anchor="ctr"/>
          <a:lstStyle/>
          <a:p>
            <a:pPr algn="ctr" indent="0" marL="0">
              <a:buNone/>
            </a:pPr>
            <a:r>
              <a:rPr lang="en-US" sz="2200" b="1" dirty="0">
                <a:solidFill>
                  <a:srgbClr val="0096C7"/>
                </a:solidFill>
                <a:latin typeface="Calibri" pitchFamily="34" charset="0"/>
                <a:ea typeface="Calibri" pitchFamily="34" charset="-122"/>
                <a:cs typeface="Calibri"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dc:title>
  <dc:subject>PptxGenJS Presentation</dc:subject>
  <dc:creator>Team</dc:creator>
  <cp:lastModifiedBy>Team</cp:lastModifiedBy>
  <cp:revision>1</cp:revision>
  <dcterms:created xsi:type="dcterms:W3CDTF">2026-06-21T23:37:06Z</dcterms:created>
  <dcterms:modified xsi:type="dcterms:W3CDTF">2026-06-21T23:37:06Z</dcterms:modified>
</cp:coreProperties>
</file>